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3" r:id="rId17"/>
    <p:sldId id="270" r:id="rId18"/>
  </p:sldIdLst>
  <p:sldSz cx="12192000" cy="6858000"/>
  <p:notesSz cx="6858000" cy="9144000"/>
  <p:embeddedFontLst>
    <p:embeddedFont>
      <p:font typeface="Urbanist" panose="020B0604020202020204" charset="0"/>
      <p:bold r:id="rId20"/>
      <p:boldItalic r:id="rId21"/>
    </p:embeddedFont>
    <p:embeddedFont>
      <p:font typeface="Urbanist Medium" panose="020B0604020202020204" charset="0"/>
      <p:regular r:id="rId22"/>
      <p:bold r:id="rId23"/>
      <p:italic r:id="rId24"/>
      <p:boldItalic r:id="rId25"/>
    </p:embeddedFont>
    <p:embeddedFont>
      <p:font typeface="Urbanist SemiBold" panose="020B060402020202020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1906" y="6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 name="Google Shape;250;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9" name="Google Shape;259;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comb/>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comb/>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comb/>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comb/>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comb/>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comb/>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comb/>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comb/>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comb/>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comb/>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comb/>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p:comb/>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png"/><Relationship Id="rId11" Type="http://schemas.openxmlformats.org/officeDocument/2006/relationships/image" Target="../media/image20.png"/><Relationship Id="rId5" Type="http://schemas.openxmlformats.org/officeDocument/2006/relationships/image" Target="../media/image5.png"/><Relationship Id="rId10" Type="http://schemas.openxmlformats.org/officeDocument/2006/relationships/image" Target="../media/image19.png"/><Relationship Id="rId4" Type="http://schemas.openxmlformats.org/officeDocument/2006/relationships/image" Target="../media/image16.png"/><Relationship Id="rId9"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1.jpe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pic>
        <p:nvPicPr>
          <p:cNvPr id="84" name="Google Shape;84;p13"/>
          <p:cNvPicPr preferRelativeResize="0"/>
          <p:nvPr/>
        </p:nvPicPr>
        <p:blipFill rotWithShape="1">
          <a:blip r:embed="rId4">
            <a:alphaModFix amt="40000"/>
          </a:blip>
          <a:srcRect/>
          <a:stretch/>
        </p:blipFill>
        <p:spPr>
          <a:xfrm>
            <a:off x="0" y="0"/>
            <a:ext cx="12192000" cy="6858000"/>
          </a:xfrm>
          <a:prstGeom prst="rect">
            <a:avLst/>
          </a:prstGeom>
          <a:noFill/>
          <a:ln>
            <a:noFill/>
          </a:ln>
        </p:spPr>
      </p:pic>
      <p:sp>
        <p:nvSpPr>
          <p:cNvPr id="85" name="Google Shape;85;p13"/>
          <p:cNvSpPr txBox="1"/>
          <p:nvPr/>
        </p:nvSpPr>
        <p:spPr>
          <a:xfrm>
            <a:off x="571500" y="1735550"/>
            <a:ext cx="11049000" cy="2009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3820" b="1">
                <a:solidFill>
                  <a:srgbClr val="F8FAFC"/>
                </a:solidFill>
                <a:latin typeface="Urbanist"/>
                <a:ea typeface="Urbanist"/>
                <a:cs typeface="Urbanist"/>
                <a:sym typeface="Urbanist"/>
              </a:rPr>
              <a:t>An Efficient Conformer-Based Tri-Modal Architecture for Continuous Indian Sign Language Recognition </a:t>
            </a:r>
            <a:endParaRPr sz="3220" b="1">
              <a:solidFill>
                <a:srgbClr val="F8FAFC"/>
              </a:solidFill>
              <a:latin typeface="Urbanist"/>
              <a:ea typeface="Urbanist"/>
              <a:cs typeface="Urbanist"/>
              <a:sym typeface="Urbanist"/>
            </a:endParaRPr>
          </a:p>
        </p:txBody>
      </p:sp>
      <p:sp>
        <p:nvSpPr>
          <p:cNvPr id="86" name="Google Shape;86;p13"/>
          <p:cNvSpPr/>
          <p:nvPr/>
        </p:nvSpPr>
        <p:spPr>
          <a:xfrm>
            <a:off x="7259052" y="5278855"/>
            <a:ext cx="3810000" cy="19200"/>
          </a:xfrm>
          <a:prstGeom prst="rect">
            <a:avLst/>
          </a:prstGeom>
          <a:solidFill>
            <a:srgbClr val="38BDF8">
              <a:alpha val="3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7" name="Google Shape;87;p13"/>
          <p:cNvSpPr txBox="1"/>
          <p:nvPr/>
        </p:nvSpPr>
        <p:spPr>
          <a:xfrm>
            <a:off x="7259052" y="5564605"/>
            <a:ext cx="3810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600" b="0">
                <a:solidFill>
                  <a:srgbClr val="94A3B8"/>
                </a:solidFill>
                <a:latin typeface="Urbanist SemiBold"/>
                <a:ea typeface="Urbanist SemiBold"/>
                <a:cs typeface="Urbanist SemiBold"/>
                <a:sym typeface="Urbanist SemiBold"/>
              </a:rPr>
              <a:t>By Iqbal Shaikh &amp; Anupam Acharyya</a:t>
            </a:r>
            <a:endParaRPr sz="1600" b="0">
              <a:solidFill>
                <a:srgbClr val="94A3B8"/>
              </a:solidFill>
              <a:latin typeface="Urbanist SemiBold"/>
              <a:ea typeface="Urbanist SemiBold"/>
              <a:cs typeface="Urbanist SemiBold"/>
              <a:sym typeface="Urbanist SemiBold"/>
            </a:endParaRPr>
          </a:p>
        </p:txBody>
      </p:sp>
      <p:sp>
        <p:nvSpPr>
          <p:cNvPr id="88" name="Google Shape;88;p13"/>
          <p:cNvSpPr txBox="1"/>
          <p:nvPr/>
        </p:nvSpPr>
        <p:spPr>
          <a:xfrm>
            <a:off x="754987" y="5510467"/>
            <a:ext cx="4177961" cy="66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dirty="0">
                <a:solidFill>
                  <a:srgbClr val="94A3B8"/>
                </a:solidFill>
                <a:latin typeface="Calibri"/>
                <a:ea typeface="Calibri"/>
                <a:cs typeface="Calibri"/>
                <a:sym typeface="Calibri"/>
              </a:rPr>
              <a:t>Guided By – Professor Dr. Utpal Biswas </a:t>
            </a:r>
            <a:endParaRPr sz="1900" dirty="0">
              <a:solidFill>
                <a:srgbClr val="94A3B8"/>
              </a:solidFill>
              <a:latin typeface="Calibri"/>
              <a:ea typeface="Calibri"/>
              <a:cs typeface="Calibri"/>
              <a:sym typeface="Calibri"/>
            </a:endParaRPr>
          </a:p>
        </p:txBody>
      </p:sp>
      <p:sp>
        <p:nvSpPr>
          <p:cNvPr id="89" name="Google Shape;89;p13"/>
          <p:cNvSpPr txBox="1"/>
          <p:nvPr/>
        </p:nvSpPr>
        <p:spPr>
          <a:xfrm>
            <a:off x="6710625" y="5570625"/>
            <a:ext cx="4902900" cy="477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endParaRPr sz="1900">
              <a:solidFill>
                <a:schemeClr val="lt1"/>
              </a:solidFill>
              <a:latin typeface="Calibri"/>
              <a:ea typeface="Calibri"/>
              <a:cs typeface="Calibri"/>
              <a:sym typeface="Calibri"/>
            </a:endParaRPr>
          </a:p>
        </p:txBody>
      </p:sp>
      <p:sp>
        <p:nvSpPr>
          <p:cNvPr id="90" name="Google Shape;90;p13"/>
          <p:cNvSpPr/>
          <p:nvPr/>
        </p:nvSpPr>
        <p:spPr>
          <a:xfrm>
            <a:off x="794082" y="5280847"/>
            <a:ext cx="3810000" cy="19200"/>
          </a:xfrm>
          <a:prstGeom prst="rect">
            <a:avLst/>
          </a:prstGeom>
          <a:solidFill>
            <a:srgbClr val="38BDF8">
              <a:alpha val="3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transition>
    <p:comb/>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94"/>
        <p:cNvGrpSpPr/>
        <p:nvPr/>
      </p:nvGrpSpPr>
      <p:grpSpPr>
        <a:xfrm>
          <a:off x="0" y="0"/>
          <a:ext cx="0" cy="0"/>
          <a:chOff x="0" y="0"/>
          <a:chExt cx="0" cy="0"/>
        </a:xfrm>
      </p:grpSpPr>
      <p:pic>
        <p:nvPicPr>
          <p:cNvPr id="95" name="Google Shape;95;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6" name="Google Shape;96;p14"/>
          <p:cNvSpPr txBox="1"/>
          <p:nvPr/>
        </p:nvSpPr>
        <p:spPr>
          <a:xfrm>
            <a:off x="1333500" y="2333625"/>
            <a:ext cx="6820800" cy="6543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700" b="0" i="0" u="none" strike="noStrike" cap="none">
                <a:solidFill>
                  <a:srgbClr val="CBD5E1"/>
                </a:solidFill>
                <a:latin typeface="Urbanist Medium"/>
                <a:ea typeface="Urbanist Medium"/>
                <a:cs typeface="Urbanist Medium"/>
                <a:sym typeface="Urbanist Medium"/>
              </a:rPr>
              <a:t>Natural signing is fluid, generating rapid coarticulation and blurry "movement epenthesis" between words.</a:t>
            </a:r>
            <a:endParaRPr sz="1600"/>
          </a:p>
        </p:txBody>
      </p:sp>
      <p:sp>
        <p:nvSpPr>
          <p:cNvPr id="97" name="Google Shape;97;p14"/>
          <p:cNvSpPr txBox="1"/>
          <p:nvPr/>
        </p:nvSpPr>
        <p:spPr>
          <a:xfrm>
            <a:off x="1333500" y="3170822"/>
            <a:ext cx="6820800" cy="6543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700" b="0" i="0" u="none" strike="noStrike" cap="none">
                <a:solidFill>
                  <a:srgbClr val="CBD5E1"/>
                </a:solidFill>
                <a:latin typeface="Urbanist Medium"/>
                <a:ea typeface="Urbanist Medium"/>
                <a:cs typeface="Urbanist Medium"/>
                <a:sym typeface="Urbanist Medium"/>
              </a:rPr>
              <a:t>Traditional 2D Convolutional Models suffer from "Motion Blindness" and completely fail to capture trajectories.</a:t>
            </a:r>
            <a:endParaRPr sz="1600"/>
          </a:p>
        </p:txBody>
      </p:sp>
      <p:sp>
        <p:nvSpPr>
          <p:cNvPr id="98" name="Google Shape;98;p14"/>
          <p:cNvSpPr txBox="1"/>
          <p:nvPr/>
        </p:nvSpPr>
        <p:spPr>
          <a:xfrm>
            <a:off x="1333500" y="4143375"/>
            <a:ext cx="6820800" cy="6543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700" b="0" i="0" u="none" strike="noStrike" cap="none">
                <a:solidFill>
                  <a:srgbClr val="CBD5E1"/>
                </a:solidFill>
                <a:latin typeface="Urbanist Medium"/>
                <a:ea typeface="Urbanist Medium"/>
                <a:cs typeface="Urbanist Medium"/>
                <a:sym typeface="Urbanist Medium"/>
              </a:rPr>
              <a:t>Massive 3D-CNNs hit a "Hardware Wall" because they analyze useless background pixels, causing severe computational overhead.</a:t>
            </a:r>
            <a:endParaRPr sz="1600"/>
          </a:p>
        </p:txBody>
      </p:sp>
      <p:sp>
        <p:nvSpPr>
          <p:cNvPr id="99" name="Google Shape;99;p14"/>
          <p:cNvSpPr txBox="1"/>
          <p:nvPr/>
        </p:nvSpPr>
        <p:spPr>
          <a:xfrm>
            <a:off x="571500" y="571500"/>
            <a:ext cx="1160160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Challenge of Sign Language AI</a:t>
            </a:r>
            <a:endParaRPr/>
          </a:p>
        </p:txBody>
      </p:sp>
      <p:pic>
        <p:nvPicPr>
          <p:cNvPr id="100" name="Google Shape;100;p14" descr="image.png"/>
          <p:cNvPicPr preferRelativeResize="0"/>
          <p:nvPr/>
        </p:nvPicPr>
        <p:blipFill rotWithShape="1">
          <a:blip r:embed="rId4">
            <a:alphaModFix/>
          </a:blip>
          <a:srcRect/>
          <a:stretch/>
        </p:blipFill>
        <p:spPr>
          <a:xfrm>
            <a:off x="952500" y="2431333"/>
            <a:ext cx="114300" cy="200025"/>
          </a:xfrm>
          <a:prstGeom prst="rect">
            <a:avLst/>
          </a:prstGeom>
          <a:noFill/>
          <a:ln>
            <a:noFill/>
          </a:ln>
        </p:spPr>
      </p:pic>
      <p:pic>
        <p:nvPicPr>
          <p:cNvPr id="101" name="Google Shape;101;p14" descr="image.png"/>
          <p:cNvPicPr preferRelativeResize="0"/>
          <p:nvPr/>
        </p:nvPicPr>
        <p:blipFill rotWithShape="1">
          <a:blip r:embed="rId4">
            <a:alphaModFix/>
          </a:blip>
          <a:srcRect/>
          <a:stretch/>
        </p:blipFill>
        <p:spPr>
          <a:xfrm>
            <a:off x="952500" y="3283570"/>
            <a:ext cx="114300" cy="200025"/>
          </a:xfrm>
          <a:prstGeom prst="rect">
            <a:avLst/>
          </a:prstGeom>
          <a:noFill/>
          <a:ln>
            <a:noFill/>
          </a:ln>
        </p:spPr>
      </p:pic>
      <p:pic>
        <p:nvPicPr>
          <p:cNvPr id="102" name="Google Shape;102;p14" descr="image.png"/>
          <p:cNvPicPr preferRelativeResize="0"/>
          <p:nvPr/>
        </p:nvPicPr>
        <p:blipFill rotWithShape="1">
          <a:blip r:embed="rId4">
            <a:alphaModFix/>
          </a:blip>
          <a:srcRect/>
          <a:stretch/>
        </p:blipFill>
        <p:spPr>
          <a:xfrm>
            <a:off x="952500" y="4241083"/>
            <a:ext cx="114300" cy="200025"/>
          </a:xfrm>
          <a:prstGeom prst="rect">
            <a:avLst/>
          </a:prstGeom>
          <a:noFill/>
          <a:ln>
            <a:noFill/>
          </a:ln>
        </p:spPr>
      </p:pic>
    </p:spTree>
  </p:cSld>
  <p:clrMapOvr>
    <a:masterClrMapping/>
  </p:clrMapOvr>
  <p:transition>
    <p:comb/>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06"/>
        <p:cNvGrpSpPr/>
        <p:nvPr/>
      </p:nvGrpSpPr>
      <p:grpSpPr>
        <a:xfrm>
          <a:off x="0" y="0"/>
          <a:ext cx="0" cy="0"/>
          <a:chOff x="0" y="0"/>
          <a:chExt cx="0" cy="0"/>
        </a:xfrm>
      </p:grpSpPr>
      <p:pic>
        <p:nvPicPr>
          <p:cNvPr id="107" name="Google Shape;107;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8" name="Google Shape;108;p15" descr="image.png"/>
          <p:cNvPicPr preferRelativeResize="0"/>
          <p:nvPr/>
        </p:nvPicPr>
        <p:blipFill rotWithShape="1">
          <a:blip r:embed="rId4">
            <a:alphaModFix/>
          </a:blip>
          <a:srcRect/>
          <a:stretch/>
        </p:blipFill>
        <p:spPr>
          <a:xfrm>
            <a:off x="571500" y="1857375"/>
            <a:ext cx="3429000" cy="3981450"/>
          </a:xfrm>
          <a:prstGeom prst="rect">
            <a:avLst/>
          </a:prstGeom>
          <a:noFill/>
          <a:ln>
            <a:noFill/>
          </a:ln>
        </p:spPr>
      </p:pic>
      <p:pic>
        <p:nvPicPr>
          <p:cNvPr id="109" name="Google Shape;109;p15" descr="image.png"/>
          <p:cNvPicPr preferRelativeResize="0"/>
          <p:nvPr/>
        </p:nvPicPr>
        <p:blipFill rotWithShape="1">
          <a:blip r:embed="rId5">
            <a:alphaModFix/>
          </a:blip>
          <a:srcRect/>
          <a:stretch/>
        </p:blipFill>
        <p:spPr>
          <a:xfrm>
            <a:off x="4381500" y="1857375"/>
            <a:ext cx="3429000" cy="3981450"/>
          </a:xfrm>
          <a:prstGeom prst="rect">
            <a:avLst/>
          </a:prstGeom>
          <a:noFill/>
          <a:ln>
            <a:noFill/>
          </a:ln>
        </p:spPr>
      </p:pic>
      <p:pic>
        <p:nvPicPr>
          <p:cNvPr id="110" name="Google Shape;110;p15" descr="image.png"/>
          <p:cNvPicPr preferRelativeResize="0"/>
          <p:nvPr/>
        </p:nvPicPr>
        <p:blipFill rotWithShape="1">
          <a:blip r:embed="rId5">
            <a:alphaModFix/>
          </a:blip>
          <a:srcRect/>
          <a:stretch/>
        </p:blipFill>
        <p:spPr>
          <a:xfrm>
            <a:off x="8191500" y="1857375"/>
            <a:ext cx="3429000" cy="3981450"/>
          </a:xfrm>
          <a:prstGeom prst="rect">
            <a:avLst/>
          </a:prstGeom>
          <a:noFill/>
          <a:ln>
            <a:noFill/>
          </a:ln>
        </p:spPr>
      </p:pic>
      <p:pic>
        <p:nvPicPr>
          <p:cNvPr id="111" name="Google Shape;111;p15" descr="image.png"/>
          <p:cNvPicPr preferRelativeResize="0"/>
          <p:nvPr/>
        </p:nvPicPr>
        <p:blipFill rotWithShape="1">
          <a:blip r:embed="rId6">
            <a:alphaModFix/>
          </a:blip>
          <a:srcRect/>
          <a:stretch/>
        </p:blipFill>
        <p:spPr>
          <a:xfrm>
            <a:off x="1866900" y="2152650"/>
            <a:ext cx="838200" cy="838200"/>
          </a:xfrm>
          <a:prstGeom prst="rect">
            <a:avLst/>
          </a:prstGeom>
          <a:noFill/>
          <a:ln>
            <a:noFill/>
          </a:ln>
        </p:spPr>
      </p:pic>
      <p:sp>
        <p:nvSpPr>
          <p:cNvPr id="112" name="Google Shape;112;p15"/>
          <p:cNvSpPr txBox="1"/>
          <p:nvPr/>
        </p:nvSpPr>
        <p:spPr>
          <a:xfrm>
            <a:off x="900826" y="3181350"/>
            <a:ext cx="2770346" cy="3619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dirty="0">
                <a:solidFill>
                  <a:srgbClr val="38BDF8"/>
                </a:solidFill>
                <a:latin typeface="Urbanist"/>
                <a:ea typeface="Urbanist"/>
                <a:cs typeface="Urbanist"/>
                <a:sym typeface="Urbanist"/>
              </a:rPr>
              <a:t>Memory Overhead</a:t>
            </a:r>
            <a:endParaRPr dirty="0"/>
          </a:p>
        </p:txBody>
      </p:sp>
      <p:sp>
        <p:nvSpPr>
          <p:cNvPr id="113" name="Google Shape;113;p15"/>
          <p:cNvSpPr txBox="1"/>
          <p:nvPr/>
        </p:nvSpPr>
        <p:spPr>
          <a:xfrm>
            <a:off x="866775" y="3686175"/>
            <a:ext cx="2838450" cy="17145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CBD5E1"/>
                </a:solidFill>
                <a:latin typeface="Urbanist Medium"/>
                <a:ea typeface="Urbanist Medium"/>
                <a:cs typeface="Urbanist Medium"/>
                <a:sym typeface="Urbanist Medium"/>
              </a:rPr>
              <a:t>Processing dense RGB video tensors across the temporal axis requires massive memory bandwidth, imposing strict hardware limits on consumer web browsers.</a:t>
            </a:r>
            <a:endParaRPr/>
          </a:p>
        </p:txBody>
      </p:sp>
      <p:pic>
        <p:nvPicPr>
          <p:cNvPr id="114" name="Google Shape;114;p15" descr="image.png"/>
          <p:cNvPicPr preferRelativeResize="0"/>
          <p:nvPr/>
        </p:nvPicPr>
        <p:blipFill rotWithShape="1">
          <a:blip r:embed="rId7">
            <a:alphaModFix/>
          </a:blip>
          <a:srcRect/>
          <a:stretch/>
        </p:blipFill>
        <p:spPr>
          <a:xfrm>
            <a:off x="5676900" y="2152650"/>
            <a:ext cx="838200" cy="838200"/>
          </a:xfrm>
          <a:prstGeom prst="rect">
            <a:avLst/>
          </a:prstGeom>
          <a:noFill/>
          <a:ln>
            <a:noFill/>
          </a:ln>
        </p:spPr>
      </p:pic>
      <p:sp>
        <p:nvSpPr>
          <p:cNvPr id="115" name="Google Shape;115;p15"/>
          <p:cNvSpPr txBox="1"/>
          <p:nvPr/>
        </p:nvSpPr>
        <p:spPr>
          <a:xfrm>
            <a:off x="4625816" y="3181350"/>
            <a:ext cx="2940367" cy="3619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38BDF8"/>
                </a:solidFill>
                <a:latin typeface="Urbanist"/>
                <a:ea typeface="Urbanist"/>
                <a:cs typeface="Urbanist"/>
                <a:sym typeface="Urbanist"/>
              </a:rPr>
              <a:t>Spatial Redundancy</a:t>
            </a:r>
            <a:endParaRPr/>
          </a:p>
        </p:txBody>
      </p:sp>
      <p:sp>
        <p:nvSpPr>
          <p:cNvPr id="116" name="Google Shape;116;p15"/>
          <p:cNvSpPr txBox="1"/>
          <p:nvPr/>
        </p:nvSpPr>
        <p:spPr>
          <a:xfrm>
            <a:off x="4676775" y="3686175"/>
            <a:ext cx="2838450" cy="17145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CBD5E1"/>
                </a:solidFill>
                <a:latin typeface="Urbanist Medium"/>
                <a:ea typeface="Urbanist Medium"/>
                <a:cs typeface="Urbanist Medium"/>
                <a:sym typeface="Urbanist Medium"/>
              </a:rPr>
              <a:t>Pixel-based models waste computing power optimizing weights for static background environments (walls, clothing) instead of rapid linguistic hand cues.</a:t>
            </a:r>
            <a:endParaRPr/>
          </a:p>
        </p:txBody>
      </p:sp>
      <p:pic>
        <p:nvPicPr>
          <p:cNvPr id="117" name="Google Shape;117;p15" descr="image.png"/>
          <p:cNvPicPr preferRelativeResize="0"/>
          <p:nvPr/>
        </p:nvPicPr>
        <p:blipFill rotWithShape="1">
          <a:blip r:embed="rId8">
            <a:alphaModFix/>
          </a:blip>
          <a:srcRect/>
          <a:stretch/>
        </p:blipFill>
        <p:spPr>
          <a:xfrm>
            <a:off x="9515475" y="2152650"/>
            <a:ext cx="781050" cy="838200"/>
          </a:xfrm>
          <a:prstGeom prst="rect">
            <a:avLst/>
          </a:prstGeom>
          <a:noFill/>
          <a:ln>
            <a:noFill/>
          </a:ln>
        </p:spPr>
      </p:pic>
      <p:sp>
        <p:nvSpPr>
          <p:cNvPr id="118" name="Google Shape;118;p15"/>
          <p:cNvSpPr txBox="1"/>
          <p:nvPr/>
        </p:nvSpPr>
        <p:spPr>
          <a:xfrm>
            <a:off x="8505825" y="3181350"/>
            <a:ext cx="2800350" cy="3619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38BDF8"/>
                </a:solidFill>
                <a:latin typeface="Urbanist"/>
                <a:ea typeface="Urbanist"/>
                <a:cs typeface="Urbanist"/>
                <a:sym typeface="Urbanist"/>
              </a:rPr>
              <a:t>Sequential Latency</a:t>
            </a:r>
            <a:endParaRPr/>
          </a:p>
        </p:txBody>
      </p:sp>
      <p:sp>
        <p:nvSpPr>
          <p:cNvPr id="119" name="Google Shape;119;p15"/>
          <p:cNvSpPr txBox="1"/>
          <p:nvPr/>
        </p:nvSpPr>
        <p:spPr>
          <a:xfrm>
            <a:off x="8486775" y="3686175"/>
            <a:ext cx="2838450" cy="14287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CBD5E1"/>
                </a:solidFill>
                <a:latin typeface="Urbanist Medium"/>
                <a:ea typeface="Urbanist Medium"/>
                <a:cs typeface="Urbanist Medium"/>
                <a:sym typeface="Urbanist Medium"/>
              </a:rPr>
              <a:t>Traditional recurrent models (LSTMs) must process data frame-by-frame sequentially, creating deep inference lag that prevents real-time streaming.</a:t>
            </a:r>
            <a:endParaRPr/>
          </a:p>
        </p:txBody>
      </p:sp>
      <p:pic>
        <p:nvPicPr>
          <p:cNvPr id="120" name="Google Shape;120;p15" descr="image.png"/>
          <p:cNvPicPr preferRelativeResize="0"/>
          <p:nvPr/>
        </p:nvPicPr>
        <p:blipFill rotWithShape="1">
          <a:blip r:embed="rId9">
            <a:alphaModFix/>
          </a:blip>
          <a:srcRect/>
          <a:stretch/>
        </p:blipFill>
        <p:spPr>
          <a:xfrm>
            <a:off x="2057400" y="2343150"/>
            <a:ext cx="457200" cy="457200"/>
          </a:xfrm>
          <a:prstGeom prst="rect">
            <a:avLst/>
          </a:prstGeom>
          <a:noFill/>
          <a:ln>
            <a:noFill/>
          </a:ln>
        </p:spPr>
      </p:pic>
      <p:pic>
        <p:nvPicPr>
          <p:cNvPr id="121" name="Google Shape;121;p15" descr="image.png"/>
          <p:cNvPicPr preferRelativeResize="0"/>
          <p:nvPr/>
        </p:nvPicPr>
        <p:blipFill rotWithShape="1">
          <a:blip r:embed="rId10">
            <a:alphaModFix/>
          </a:blip>
          <a:srcRect/>
          <a:stretch/>
        </p:blipFill>
        <p:spPr>
          <a:xfrm>
            <a:off x="5867400" y="2343150"/>
            <a:ext cx="457200" cy="457200"/>
          </a:xfrm>
          <a:prstGeom prst="rect">
            <a:avLst/>
          </a:prstGeom>
          <a:noFill/>
          <a:ln>
            <a:noFill/>
          </a:ln>
        </p:spPr>
      </p:pic>
      <p:pic>
        <p:nvPicPr>
          <p:cNvPr id="122" name="Google Shape;122;p15" descr="image.png"/>
          <p:cNvPicPr preferRelativeResize="0"/>
          <p:nvPr/>
        </p:nvPicPr>
        <p:blipFill rotWithShape="1">
          <a:blip r:embed="rId11">
            <a:alphaModFix/>
          </a:blip>
          <a:srcRect/>
          <a:stretch/>
        </p:blipFill>
        <p:spPr>
          <a:xfrm>
            <a:off x="9705975" y="2343150"/>
            <a:ext cx="400050" cy="457200"/>
          </a:xfrm>
          <a:prstGeom prst="rect">
            <a:avLst/>
          </a:prstGeom>
          <a:noFill/>
          <a:ln>
            <a:noFill/>
          </a:ln>
        </p:spPr>
      </p:pic>
      <p:sp>
        <p:nvSpPr>
          <p:cNvPr id="123" name="Google Shape;123;p15"/>
          <p:cNvSpPr txBox="1"/>
          <p:nvPr/>
        </p:nvSpPr>
        <p:spPr>
          <a:xfrm>
            <a:off x="571500" y="571500"/>
            <a:ext cx="1160145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Computational Hardware Wall</a:t>
            </a:r>
            <a:endParaRPr/>
          </a:p>
        </p:txBody>
      </p:sp>
    </p:spTree>
  </p:cSld>
  <p:clrMapOvr>
    <a:masterClrMapping/>
  </p:clrMapOvr>
  <p:transition>
    <p:comb/>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27"/>
        <p:cNvGrpSpPr/>
        <p:nvPr/>
      </p:nvGrpSpPr>
      <p:grpSpPr>
        <a:xfrm>
          <a:off x="0" y="0"/>
          <a:ext cx="0" cy="0"/>
          <a:chOff x="0" y="0"/>
          <a:chExt cx="0" cy="0"/>
        </a:xfrm>
      </p:grpSpPr>
      <p:pic>
        <p:nvPicPr>
          <p:cNvPr id="128" name="Google Shape;128;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9" name="Google Shape;129;p16" descr="image.png"/>
          <p:cNvPicPr preferRelativeResize="0"/>
          <p:nvPr/>
        </p:nvPicPr>
        <p:blipFill rotWithShape="1">
          <a:blip r:embed="rId4">
            <a:alphaModFix/>
          </a:blip>
          <a:srcRect/>
          <a:stretch/>
        </p:blipFill>
        <p:spPr>
          <a:xfrm>
            <a:off x="571500" y="1404937"/>
            <a:ext cx="3429000" cy="4886326"/>
          </a:xfrm>
          <a:prstGeom prst="rect">
            <a:avLst/>
          </a:prstGeom>
          <a:noFill/>
          <a:ln>
            <a:noFill/>
          </a:ln>
        </p:spPr>
      </p:pic>
      <p:pic>
        <p:nvPicPr>
          <p:cNvPr id="130" name="Google Shape;130;p16" descr="image.png"/>
          <p:cNvPicPr preferRelativeResize="0"/>
          <p:nvPr/>
        </p:nvPicPr>
        <p:blipFill rotWithShape="1">
          <a:blip r:embed="rId5">
            <a:alphaModFix/>
          </a:blip>
          <a:srcRect/>
          <a:stretch/>
        </p:blipFill>
        <p:spPr>
          <a:xfrm>
            <a:off x="4381500" y="1404937"/>
            <a:ext cx="3429000" cy="4886326"/>
          </a:xfrm>
          <a:prstGeom prst="rect">
            <a:avLst/>
          </a:prstGeom>
          <a:noFill/>
          <a:ln>
            <a:noFill/>
          </a:ln>
        </p:spPr>
      </p:pic>
      <p:pic>
        <p:nvPicPr>
          <p:cNvPr id="131" name="Google Shape;131;p16" descr="image.png"/>
          <p:cNvPicPr preferRelativeResize="0"/>
          <p:nvPr/>
        </p:nvPicPr>
        <p:blipFill rotWithShape="1">
          <a:blip r:embed="rId5">
            <a:alphaModFix/>
          </a:blip>
          <a:srcRect/>
          <a:stretch/>
        </p:blipFill>
        <p:spPr>
          <a:xfrm>
            <a:off x="8191500" y="1404937"/>
            <a:ext cx="3429000" cy="4886326"/>
          </a:xfrm>
          <a:prstGeom prst="rect">
            <a:avLst/>
          </a:prstGeom>
          <a:noFill/>
          <a:ln>
            <a:noFill/>
          </a:ln>
        </p:spPr>
      </p:pic>
      <p:sp>
        <p:nvSpPr>
          <p:cNvPr id="132" name="Google Shape;132;p16"/>
          <p:cNvSpPr txBox="1"/>
          <p:nvPr/>
        </p:nvSpPr>
        <p:spPr>
          <a:xfrm>
            <a:off x="695801" y="1998495"/>
            <a:ext cx="3180300" cy="369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F8FAFC"/>
                </a:solidFill>
                <a:latin typeface="Urbanist"/>
                <a:ea typeface="Urbanist"/>
                <a:cs typeface="Urbanist"/>
                <a:sym typeface="Urbanist"/>
              </a:rPr>
              <a:t>Continuous Sentences</a:t>
            </a:r>
            <a:endParaRPr/>
          </a:p>
        </p:txBody>
      </p:sp>
      <p:sp>
        <p:nvSpPr>
          <p:cNvPr id="133" name="Google Shape;133;p16"/>
          <p:cNvSpPr txBox="1"/>
          <p:nvPr/>
        </p:nvSpPr>
        <p:spPr>
          <a:xfrm>
            <a:off x="771525" y="3585400"/>
            <a:ext cx="3029100" cy="20472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900" b="0" i="0" u="none" strike="noStrike" cap="none">
                <a:solidFill>
                  <a:srgbClr val="CBD5E1"/>
                </a:solidFill>
                <a:latin typeface="Urbanist Medium"/>
                <a:ea typeface="Urbanist Medium"/>
                <a:cs typeface="Urbanist Medium"/>
                <a:sym typeface="Urbanist Medium"/>
              </a:rPr>
              <a:t>195 videos capturing natural movement epenthesis. Its low volume inherently risks data starvation if used alone.</a:t>
            </a:r>
            <a:endParaRPr sz="1900"/>
          </a:p>
        </p:txBody>
      </p:sp>
      <p:sp>
        <p:nvSpPr>
          <p:cNvPr id="134" name="Google Shape;134;p16"/>
          <p:cNvSpPr txBox="1"/>
          <p:nvPr/>
        </p:nvSpPr>
        <p:spPr>
          <a:xfrm>
            <a:off x="4505801" y="2028574"/>
            <a:ext cx="3180300" cy="369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F8FAFC"/>
                </a:solidFill>
                <a:latin typeface="Urbanist"/>
                <a:ea typeface="Urbanist"/>
                <a:cs typeface="Urbanist"/>
                <a:sym typeface="Urbanist"/>
              </a:rPr>
              <a:t>Isolated Words</a:t>
            </a:r>
            <a:endParaRPr/>
          </a:p>
        </p:txBody>
      </p:sp>
      <p:sp>
        <p:nvSpPr>
          <p:cNvPr id="135" name="Google Shape;135;p16"/>
          <p:cNvSpPr txBox="1"/>
          <p:nvPr/>
        </p:nvSpPr>
        <p:spPr>
          <a:xfrm>
            <a:off x="4581525" y="3585394"/>
            <a:ext cx="3029100" cy="20472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900" b="0" i="0" u="none" strike="noStrike" cap="none">
                <a:solidFill>
                  <a:srgbClr val="CBD5E1"/>
                </a:solidFill>
                <a:latin typeface="Urbanist Medium"/>
                <a:ea typeface="Urbanist Medium"/>
                <a:cs typeface="Urbanist Medium"/>
                <a:sym typeface="Urbanist Medium"/>
              </a:rPr>
              <a:t>200 isolated videos engineered to act as a crucial Curriculum Learning bridge, smoothing mathematical transitions.</a:t>
            </a:r>
            <a:endParaRPr sz="1800"/>
          </a:p>
        </p:txBody>
      </p:sp>
      <p:sp>
        <p:nvSpPr>
          <p:cNvPr id="136" name="Google Shape;136;p16"/>
          <p:cNvSpPr txBox="1"/>
          <p:nvPr/>
        </p:nvSpPr>
        <p:spPr>
          <a:xfrm>
            <a:off x="8315801" y="1983456"/>
            <a:ext cx="3180300" cy="369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F8FAFC"/>
                </a:solidFill>
                <a:latin typeface="Urbanist"/>
                <a:ea typeface="Urbanist"/>
                <a:cs typeface="Urbanist"/>
                <a:sym typeface="Urbanist"/>
              </a:rPr>
              <a:t>Static Alphabets</a:t>
            </a:r>
            <a:endParaRPr/>
          </a:p>
        </p:txBody>
      </p:sp>
      <p:sp>
        <p:nvSpPr>
          <p:cNvPr id="137" name="Google Shape;137;p16"/>
          <p:cNvSpPr txBox="1"/>
          <p:nvPr/>
        </p:nvSpPr>
        <p:spPr>
          <a:xfrm>
            <a:off x="8391525" y="3539191"/>
            <a:ext cx="3029100" cy="20472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900" b="0" i="0" u="none" strike="noStrike" cap="none">
                <a:solidFill>
                  <a:srgbClr val="CBD5E1"/>
                </a:solidFill>
                <a:latin typeface="Urbanist Medium"/>
                <a:ea typeface="Urbanist Medium"/>
                <a:cs typeface="Urbanist Medium"/>
                <a:sym typeface="Urbanist Medium"/>
              </a:rPr>
              <a:t>1,300 images establishing uncompromising geometric anchors for identifying precise fingerspelling micro-movements.</a:t>
            </a:r>
            <a:endParaRPr sz="1800"/>
          </a:p>
        </p:txBody>
      </p:sp>
      <p:sp>
        <p:nvSpPr>
          <p:cNvPr id="138" name="Google Shape;138;p16"/>
          <p:cNvSpPr txBox="1"/>
          <p:nvPr/>
        </p:nvSpPr>
        <p:spPr>
          <a:xfrm>
            <a:off x="571500" y="566737"/>
            <a:ext cx="1160160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Tri-Modal Omni-Dataset</a:t>
            </a:r>
            <a:endParaRPr/>
          </a:p>
        </p:txBody>
      </p:sp>
    </p:spTree>
  </p:cSld>
  <p:clrMapOvr>
    <a:masterClrMapping/>
  </p:clrMapOvr>
  <p:transition>
    <p:comb/>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42"/>
        <p:cNvGrpSpPr/>
        <p:nvPr/>
      </p:nvGrpSpPr>
      <p:grpSpPr>
        <a:xfrm>
          <a:off x="0" y="0"/>
          <a:ext cx="0" cy="0"/>
          <a:chOff x="0" y="0"/>
          <a:chExt cx="0" cy="0"/>
        </a:xfrm>
      </p:grpSpPr>
      <p:pic>
        <p:nvPicPr>
          <p:cNvPr id="143" name="Google Shape;143;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4" name="Google Shape;144;p17"/>
          <p:cNvSpPr txBox="1"/>
          <p:nvPr/>
        </p:nvSpPr>
        <p:spPr>
          <a:xfrm>
            <a:off x="571500" y="571500"/>
            <a:ext cx="7146823"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err="1">
                <a:solidFill>
                  <a:srgbClr val="F8FAFC"/>
                </a:solidFill>
                <a:latin typeface="Urbanist"/>
                <a:ea typeface="Urbanist"/>
                <a:cs typeface="Urbanist"/>
                <a:sym typeface="Urbanist"/>
              </a:rPr>
              <a:t>MediaPipe</a:t>
            </a:r>
            <a:r>
              <a:rPr lang="en-US" sz="3000" b="1" i="0" u="none" strike="noStrike" cap="none" dirty="0">
                <a:solidFill>
                  <a:srgbClr val="F8FAFC"/>
                </a:solidFill>
                <a:latin typeface="Urbanist"/>
                <a:ea typeface="Urbanist"/>
                <a:cs typeface="Urbanist"/>
                <a:sym typeface="Urbanist"/>
              </a:rPr>
              <a:t> Spatial Compression</a:t>
            </a:r>
            <a:endParaRPr dirty="0"/>
          </a:p>
        </p:txBody>
      </p:sp>
      <p:sp>
        <p:nvSpPr>
          <p:cNvPr id="145" name="Google Shape;145;p17"/>
          <p:cNvSpPr txBox="1"/>
          <p:nvPr/>
        </p:nvSpPr>
        <p:spPr>
          <a:xfrm>
            <a:off x="571500" y="2143125"/>
            <a:ext cx="10410300" cy="7605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900" b="0" i="0" u="none" strike="noStrike" cap="none">
                <a:solidFill>
                  <a:srgbClr val="CBD5E1"/>
                </a:solidFill>
                <a:latin typeface="Urbanist Medium"/>
                <a:ea typeface="Urbanist Medium"/>
                <a:cs typeface="Urbanist Medium"/>
                <a:sym typeface="Urbanist Medium"/>
              </a:rPr>
              <a:t>Bypassing massive RGB video files, the pipeline extracts a highly compressed 1086-dimensional skeletal coordinate array per frame:</a:t>
            </a:r>
            <a:endParaRPr sz="1900"/>
          </a:p>
        </p:txBody>
      </p:sp>
      <p:sp>
        <p:nvSpPr>
          <p:cNvPr id="146" name="Google Shape;146;p17"/>
          <p:cNvSpPr txBox="1"/>
          <p:nvPr/>
        </p:nvSpPr>
        <p:spPr>
          <a:xfrm>
            <a:off x="571500" y="3390900"/>
            <a:ext cx="10260000" cy="2925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900" b="1" i="0" u="none" strike="noStrike" cap="none">
                <a:solidFill>
                  <a:srgbClr val="CBD5E1"/>
                </a:solidFill>
                <a:latin typeface="Urbanist"/>
                <a:ea typeface="Urbanist"/>
                <a:cs typeface="Urbanist"/>
                <a:sym typeface="Urbanist"/>
              </a:rPr>
              <a:t>Pose:</a:t>
            </a:r>
            <a:r>
              <a:rPr lang="en-US" sz="1900" b="0" i="0" u="none" strike="noStrike" cap="none">
                <a:solidFill>
                  <a:srgbClr val="CBD5E1"/>
                </a:solidFill>
                <a:latin typeface="Urbanist Medium"/>
                <a:ea typeface="Urbanist Medium"/>
                <a:cs typeface="Urbanist Medium"/>
                <a:sym typeface="Urbanist Medium"/>
              </a:rPr>
              <a:t> 33 points (66 dims) mapping macro-kinematics.</a:t>
            </a:r>
            <a:endParaRPr sz="1900"/>
          </a:p>
        </p:txBody>
      </p:sp>
      <p:sp>
        <p:nvSpPr>
          <p:cNvPr id="147" name="Google Shape;147;p17"/>
          <p:cNvSpPr txBox="1"/>
          <p:nvPr/>
        </p:nvSpPr>
        <p:spPr>
          <a:xfrm>
            <a:off x="571500" y="4000500"/>
            <a:ext cx="10260000" cy="2925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900" b="1" i="0" u="none" strike="noStrike" cap="none">
                <a:solidFill>
                  <a:srgbClr val="CBD5E1"/>
                </a:solidFill>
                <a:latin typeface="Urbanist"/>
                <a:ea typeface="Urbanist"/>
                <a:cs typeface="Urbanist"/>
                <a:sym typeface="Urbanist"/>
              </a:rPr>
              <a:t>FaceMesh:</a:t>
            </a:r>
            <a:r>
              <a:rPr lang="en-US" sz="1900" b="0" i="0" u="none" strike="noStrike" cap="none">
                <a:solidFill>
                  <a:srgbClr val="CBD5E1"/>
                </a:solidFill>
                <a:latin typeface="Urbanist Medium"/>
                <a:ea typeface="Urbanist Medium"/>
                <a:cs typeface="Urbanist Medium"/>
                <a:sym typeface="Urbanist Medium"/>
              </a:rPr>
              <a:t> 468 points (936 dims) for non-manual grammatical markers.</a:t>
            </a:r>
            <a:endParaRPr sz="1900"/>
          </a:p>
        </p:txBody>
      </p:sp>
      <p:sp>
        <p:nvSpPr>
          <p:cNvPr id="148" name="Google Shape;148;p17"/>
          <p:cNvSpPr txBox="1"/>
          <p:nvPr/>
        </p:nvSpPr>
        <p:spPr>
          <a:xfrm>
            <a:off x="571500" y="4610100"/>
            <a:ext cx="10260000" cy="2925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900" b="1" i="0" u="none" strike="noStrike" cap="none">
                <a:solidFill>
                  <a:srgbClr val="CBD5E1"/>
                </a:solidFill>
                <a:latin typeface="Urbanist"/>
                <a:ea typeface="Urbanist"/>
                <a:cs typeface="Urbanist"/>
                <a:sym typeface="Urbanist"/>
              </a:rPr>
              <a:t>Hands:</a:t>
            </a:r>
            <a:r>
              <a:rPr lang="en-US" sz="1900" b="0" i="0" u="none" strike="noStrike" cap="none">
                <a:solidFill>
                  <a:srgbClr val="CBD5E1"/>
                </a:solidFill>
                <a:latin typeface="Urbanist Medium"/>
                <a:ea typeface="Urbanist Medium"/>
                <a:cs typeface="Urbanist Medium"/>
                <a:sym typeface="Urbanist Medium"/>
              </a:rPr>
              <a:t> 42 points (84 dims) tracking micro-geometry.</a:t>
            </a:r>
            <a:endParaRPr sz="1900"/>
          </a:p>
        </p:txBody>
      </p:sp>
      <p:sp>
        <p:nvSpPr>
          <p:cNvPr id="149" name="Google Shape;149;p17"/>
          <p:cNvSpPr txBox="1"/>
          <p:nvPr/>
        </p:nvSpPr>
        <p:spPr>
          <a:xfrm>
            <a:off x="571500" y="5248275"/>
            <a:ext cx="10260000" cy="2925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900" b="0" i="0" u="none" strike="noStrike" cap="none">
                <a:solidFill>
                  <a:srgbClr val="CBD5E1"/>
                </a:solidFill>
                <a:latin typeface="Urbanist Medium"/>
                <a:ea typeface="Urbanist Medium"/>
                <a:cs typeface="Urbanist Medium"/>
                <a:sym typeface="Urbanist Medium"/>
              </a:rPr>
              <a:t>This completely dismantles the hardware wall by removing 99% of computational bloat.</a:t>
            </a:r>
            <a:endParaRPr sz="1900"/>
          </a:p>
        </p:txBody>
      </p:sp>
    </p:spTree>
  </p:cSld>
  <p:clrMapOvr>
    <a:masterClrMapping/>
  </p:clrMapOvr>
  <p:transition>
    <p:comb/>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53"/>
        <p:cNvGrpSpPr/>
        <p:nvPr/>
      </p:nvGrpSpPr>
      <p:grpSpPr>
        <a:xfrm>
          <a:off x="0" y="0"/>
          <a:ext cx="0" cy="0"/>
          <a:chOff x="0" y="0"/>
          <a:chExt cx="0" cy="0"/>
        </a:xfrm>
      </p:grpSpPr>
      <p:pic>
        <p:nvPicPr>
          <p:cNvPr id="154" name="Google Shape;154;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5" name="Google Shape;155;p18" descr="image.png"/>
          <p:cNvPicPr preferRelativeResize="0"/>
          <p:nvPr/>
        </p:nvPicPr>
        <p:blipFill rotWithShape="1">
          <a:blip r:embed="rId4">
            <a:alphaModFix/>
          </a:blip>
          <a:srcRect/>
          <a:stretch/>
        </p:blipFill>
        <p:spPr>
          <a:xfrm>
            <a:off x="571500" y="2276475"/>
            <a:ext cx="5286375" cy="3143250"/>
          </a:xfrm>
          <a:prstGeom prst="rect">
            <a:avLst/>
          </a:prstGeom>
          <a:noFill/>
          <a:ln>
            <a:noFill/>
          </a:ln>
        </p:spPr>
      </p:pic>
      <p:pic>
        <p:nvPicPr>
          <p:cNvPr id="156" name="Google Shape;156;p18" descr="image.png"/>
          <p:cNvPicPr preferRelativeResize="0"/>
          <p:nvPr/>
        </p:nvPicPr>
        <p:blipFill rotWithShape="1">
          <a:blip r:embed="rId5">
            <a:alphaModFix/>
          </a:blip>
          <a:srcRect/>
          <a:stretch/>
        </p:blipFill>
        <p:spPr>
          <a:xfrm>
            <a:off x="6334125" y="2276475"/>
            <a:ext cx="5286375" cy="3143250"/>
          </a:xfrm>
          <a:prstGeom prst="rect">
            <a:avLst/>
          </a:prstGeom>
          <a:noFill/>
          <a:ln>
            <a:noFill/>
          </a:ln>
        </p:spPr>
      </p:pic>
      <p:sp>
        <p:nvSpPr>
          <p:cNvPr id="157" name="Google Shape;157;p18"/>
          <p:cNvSpPr txBox="1"/>
          <p:nvPr/>
        </p:nvSpPr>
        <p:spPr>
          <a:xfrm>
            <a:off x="849391" y="2667000"/>
            <a:ext cx="4730591" cy="3619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38BDF8"/>
                </a:solidFill>
                <a:latin typeface="Urbanist"/>
                <a:ea typeface="Urbanist"/>
                <a:cs typeface="Urbanist"/>
                <a:sym typeface="Urbanist"/>
              </a:rPr>
              <a:t>The Dimensionality Crisis</a:t>
            </a:r>
            <a:endParaRPr/>
          </a:p>
        </p:txBody>
      </p:sp>
      <p:sp>
        <p:nvSpPr>
          <p:cNvPr id="158" name="Google Shape;158;p18"/>
          <p:cNvSpPr txBox="1"/>
          <p:nvPr/>
        </p:nvSpPr>
        <p:spPr>
          <a:xfrm>
            <a:off x="962025" y="3171825"/>
            <a:ext cx="4505325" cy="17145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CBD5E1"/>
                </a:solidFill>
                <a:latin typeface="Urbanist Medium"/>
                <a:ea typeface="Urbanist Medium"/>
                <a:cs typeface="Urbanist Medium"/>
                <a:sym typeface="Urbanist Medium"/>
              </a:rPr>
              <a:t>Deep sequence networks demand dimensional homogeneity. Attempting to mix 2D static alphabet images with 3D continuous videos completely violates convolutional tensor requirements, causing immediate matrix multiplication crashes during the training loops.</a:t>
            </a:r>
            <a:endParaRPr/>
          </a:p>
        </p:txBody>
      </p:sp>
      <p:sp>
        <p:nvSpPr>
          <p:cNvPr id="159" name="Google Shape;159;p18"/>
          <p:cNvSpPr txBox="1"/>
          <p:nvPr/>
        </p:nvSpPr>
        <p:spPr>
          <a:xfrm>
            <a:off x="6612016" y="2667000"/>
            <a:ext cx="4730591" cy="3619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38BDF8"/>
                </a:solidFill>
                <a:latin typeface="Urbanist"/>
                <a:ea typeface="Urbanist"/>
                <a:cs typeface="Urbanist"/>
                <a:sym typeface="Urbanist"/>
              </a:rPr>
              <a:t>Static Sequence Simulation</a:t>
            </a:r>
            <a:endParaRPr/>
          </a:p>
        </p:txBody>
      </p:sp>
      <p:sp>
        <p:nvSpPr>
          <p:cNvPr id="160" name="Google Shape;160;p18"/>
          <p:cNvSpPr txBox="1"/>
          <p:nvPr/>
        </p:nvSpPr>
        <p:spPr>
          <a:xfrm>
            <a:off x="6724650" y="3171825"/>
            <a:ext cx="4505325" cy="14287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CBD5E1"/>
                </a:solidFill>
                <a:latin typeface="Urbanist Medium"/>
                <a:ea typeface="Urbanist Medium"/>
                <a:cs typeface="Urbanist Medium"/>
                <a:sym typeface="Urbanist Medium"/>
              </a:rPr>
              <a:t>To safely merge formats, our pipeline processes static images once, then mathematically duplicates the 1086-dimensional feature vector 15 times along the temporal axis. This flawlessly synthesizes a static 0.5-second video tensor.</a:t>
            </a:r>
            <a:endParaRPr/>
          </a:p>
        </p:txBody>
      </p:sp>
      <p:sp>
        <p:nvSpPr>
          <p:cNvPr id="161" name="Google Shape;161;p18"/>
          <p:cNvSpPr txBox="1"/>
          <p:nvPr/>
        </p:nvSpPr>
        <p:spPr>
          <a:xfrm>
            <a:off x="571500" y="571500"/>
            <a:ext cx="1160145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Resolving Format Mismatches</a:t>
            </a:r>
            <a:endParaRPr/>
          </a:p>
        </p:txBody>
      </p:sp>
    </p:spTree>
  </p:cSld>
  <p:clrMapOvr>
    <a:masterClrMapping/>
  </p:clrMapOvr>
  <p:transition>
    <p:comb/>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65"/>
        <p:cNvGrpSpPr/>
        <p:nvPr/>
      </p:nvGrpSpPr>
      <p:grpSpPr>
        <a:xfrm>
          <a:off x="0" y="0"/>
          <a:ext cx="0" cy="0"/>
          <a:chOff x="0" y="0"/>
          <a:chExt cx="0" cy="0"/>
        </a:xfrm>
      </p:grpSpPr>
      <p:pic>
        <p:nvPicPr>
          <p:cNvPr id="166" name="Google Shape;166;p19" descr="image.png"/>
          <p:cNvPicPr preferRelativeResize="0"/>
          <p:nvPr/>
        </p:nvPicPr>
        <p:blipFill rotWithShape="1">
          <a:blip r:embed="rId3">
            <a:alphaModFix/>
          </a:blip>
          <a:srcRect/>
          <a:stretch/>
        </p:blipFill>
        <p:spPr>
          <a:xfrm>
            <a:off x="19050" y="0"/>
            <a:ext cx="12192000" cy="6858000"/>
          </a:xfrm>
          <a:prstGeom prst="rect">
            <a:avLst/>
          </a:prstGeom>
          <a:noFill/>
          <a:ln>
            <a:noFill/>
          </a:ln>
        </p:spPr>
      </p:pic>
      <p:sp>
        <p:nvSpPr>
          <p:cNvPr id="167" name="Google Shape;167;p19"/>
          <p:cNvSpPr txBox="1"/>
          <p:nvPr/>
        </p:nvSpPr>
        <p:spPr>
          <a:xfrm>
            <a:off x="2190750" y="2324100"/>
            <a:ext cx="8191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F8FAFC"/>
                </a:solidFill>
                <a:latin typeface="Urbanist"/>
                <a:ea typeface="Urbanist"/>
                <a:cs typeface="Urbanist"/>
                <a:sym typeface="Urbanist"/>
              </a:rPr>
              <a:t>Linear Time Stretching:</a:t>
            </a:r>
            <a:r>
              <a:rPr lang="en-US" sz="1500" b="0" i="0" u="none" strike="noStrike" cap="none">
                <a:solidFill>
                  <a:srgbClr val="CBD5E1"/>
                </a:solidFill>
                <a:latin typeface="Urbanist Medium"/>
                <a:ea typeface="Urbanist Medium"/>
                <a:cs typeface="Urbanist Medium"/>
                <a:sym typeface="Urbanist Medium"/>
              </a:rPr>
              <a:t> The temporal length of training tensors is dynamically scaled (0.85x to 1.15x) to simulate radically varying human signing speeds.</a:t>
            </a:r>
            <a:endParaRPr/>
          </a:p>
        </p:txBody>
      </p:sp>
      <p:sp>
        <p:nvSpPr>
          <p:cNvPr id="168" name="Google Shape;168;p19"/>
          <p:cNvSpPr txBox="1"/>
          <p:nvPr/>
        </p:nvSpPr>
        <p:spPr>
          <a:xfrm>
            <a:off x="2190750" y="3086100"/>
            <a:ext cx="8191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F8FAFC"/>
                </a:solidFill>
                <a:latin typeface="Urbanist"/>
                <a:ea typeface="Urbanist"/>
                <a:cs typeface="Urbanist"/>
                <a:sym typeface="Urbanist"/>
              </a:rPr>
              <a:t>Gaussian Jitter:</a:t>
            </a:r>
            <a:r>
              <a:rPr lang="en-US" sz="1500" b="0" i="0" u="none" strike="noStrike" cap="none">
                <a:solidFill>
                  <a:srgbClr val="CBD5E1"/>
                </a:solidFill>
                <a:latin typeface="Urbanist Medium"/>
                <a:ea typeface="Urbanist Medium"/>
                <a:cs typeface="Urbanist Medium"/>
                <a:sym typeface="Urbanist Medium"/>
              </a:rPr>
              <a:t> We inject random noise directly into the 1086 coordinates to artificially mimic motion blur, sensor glitches, and poor webcams.</a:t>
            </a:r>
            <a:endParaRPr/>
          </a:p>
        </p:txBody>
      </p:sp>
      <p:sp>
        <p:nvSpPr>
          <p:cNvPr id="169" name="Google Shape;169;p19"/>
          <p:cNvSpPr txBox="1"/>
          <p:nvPr/>
        </p:nvSpPr>
        <p:spPr>
          <a:xfrm>
            <a:off x="2190750" y="3848100"/>
            <a:ext cx="8191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F8FAFC"/>
                </a:solidFill>
                <a:latin typeface="Urbanist"/>
                <a:ea typeface="Urbanist"/>
                <a:cs typeface="Urbanist"/>
                <a:sym typeface="Urbanist"/>
              </a:rPr>
              <a:t>Overcoming Data Starvation:</a:t>
            </a:r>
            <a:r>
              <a:rPr lang="en-US" sz="1500" b="0" i="0" u="none" strike="noStrike" cap="none">
                <a:solidFill>
                  <a:srgbClr val="CBD5E1"/>
                </a:solidFill>
                <a:latin typeface="Urbanist Medium"/>
                <a:ea typeface="Urbanist Medium"/>
                <a:cs typeface="Urbanist Medium"/>
                <a:sym typeface="Urbanist Medium"/>
              </a:rPr>
              <a:t> These random spatial variations force the neural network to memorize relative geometry rather than absolute pixel locations.</a:t>
            </a:r>
            <a:endParaRPr/>
          </a:p>
        </p:txBody>
      </p:sp>
      <p:sp>
        <p:nvSpPr>
          <p:cNvPr id="170" name="Google Shape;170;p19"/>
          <p:cNvSpPr txBox="1"/>
          <p:nvPr/>
        </p:nvSpPr>
        <p:spPr>
          <a:xfrm>
            <a:off x="2190750" y="4610100"/>
            <a:ext cx="8191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F8FAFC"/>
                </a:solidFill>
                <a:latin typeface="Urbanist"/>
                <a:ea typeface="Urbanist"/>
                <a:cs typeface="Urbanist"/>
                <a:sym typeface="Urbanist"/>
              </a:rPr>
              <a:t>Mathematical Result:</a:t>
            </a:r>
            <a:r>
              <a:rPr lang="en-US" sz="1500" b="0" i="0" u="none" strike="noStrike" cap="none">
                <a:solidFill>
                  <a:srgbClr val="CBD5E1"/>
                </a:solidFill>
                <a:latin typeface="Urbanist Medium"/>
                <a:ea typeface="Urbanist Medium"/>
                <a:cs typeface="Urbanist Medium"/>
                <a:sym typeface="Urbanist Medium"/>
              </a:rPr>
              <a:t> Prevents overfitting, stabilizes gradients, and significantly drops the Error Rate on unseen test data.</a:t>
            </a:r>
            <a:endParaRPr/>
          </a:p>
        </p:txBody>
      </p:sp>
      <p:sp>
        <p:nvSpPr>
          <p:cNvPr id="171" name="Google Shape;171;p19"/>
          <p:cNvSpPr txBox="1"/>
          <p:nvPr/>
        </p:nvSpPr>
        <p:spPr>
          <a:xfrm>
            <a:off x="571500" y="571500"/>
            <a:ext cx="1160145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Geometric Data Augmentation</a:t>
            </a:r>
            <a:endParaRPr/>
          </a:p>
        </p:txBody>
      </p:sp>
      <p:pic>
        <p:nvPicPr>
          <p:cNvPr id="172" name="Google Shape;172;p19" descr="image.png"/>
          <p:cNvPicPr preferRelativeResize="0"/>
          <p:nvPr/>
        </p:nvPicPr>
        <p:blipFill rotWithShape="1">
          <a:blip r:embed="rId4">
            <a:alphaModFix/>
          </a:blip>
          <a:srcRect/>
          <a:stretch/>
        </p:blipFill>
        <p:spPr>
          <a:xfrm>
            <a:off x="1809750" y="2411974"/>
            <a:ext cx="114300" cy="200025"/>
          </a:xfrm>
          <a:prstGeom prst="rect">
            <a:avLst/>
          </a:prstGeom>
          <a:noFill/>
          <a:ln>
            <a:noFill/>
          </a:ln>
        </p:spPr>
      </p:pic>
      <p:pic>
        <p:nvPicPr>
          <p:cNvPr id="173" name="Google Shape;173;p19" descr="image.png"/>
          <p:cNvPicPr preferRelativeResize="0"/>
          <p:nvPr/>
        </p:nvPicPr>
        <p:blipFill rotWithShape="1">
          <a:blip r:embed="rId4">
            <a:alphaModFix/>
          </a:blip>
          <a:srcRect/>
          <a:stretch/>
        </p:blipFill>
        <p:spPr>
          <a:xfrm>
            <a:off x="1809750" y="3173974"/>
            <a:ext cx="114300" cy="200025"/>
          </a:xfrm>
          <a:prstGeom prst="rect">
            <a:avLst/>
          </a:prstGeom>
          <a:noFill/>
          <a:ln>
            <a:noFill/>
          </a:ln>
        </p:spPr>
      </p:pic>
      <p:pic>
        <p:nvPicPr>
          <p:cNvPr id="174" name="Google Shape;174;p19" descr="image.png"/>
          <p:cNvPicPr preferRelativeResize="0"/>
          <p:nvPr/>
        </p:nvPicPr>
        <p:blipFill rotWithShape="1">
          <a:blip r:embed="rId4">
            <a:alphaModFix/>
          </a:blip>
          <a:srcRect/>
          <a:stretch/>
        </p:blipFill>
        <p:spPr>
          <a:xfrm>
            <a:off x="1809750" y="3935974"/>
            <a:ext cx="114300" cy="200025"/>
          </a:xfrm>
          <a:prstGeom prst="rect">
            <a:avLst/>
          </a:prstGeom>
          <a:noFill/>
          <a:ln>
            <a:noFill/>
          </a:ln>
        </p:spPr>
      </p:pic>
      <p:pic>
        <p:nvPicPr>
          <p:cNvPr id="175" name="Google Shape;175;p19" descr="image.png"/>
          <p:cNvPicPr preferRelativeResize="0"/>
          <p:nvPr/>
        </p:nvPicPr>
        <p:blipFill rotWithShape="1">
          <a:blip r:embed="rId4">
            <a:alphaModFix/>
          </a:blip>
          <a:srcRect/>
          <a:stretch/>
        </p:blipFill>
        <p:spPr>
          <a:xfrm>
            <a:off x="1809750" y="4697974"/>
            <a:ext cx="114300" cy="200025"/>
          </a:xfrm>
          <a:prstGeom prst="rect">
            <a:avLst/>
          </a:prstGeom>
          <a:noFill/>
          <a:ln>
            <a:noFill/>
          </a:ln>
        </p:spPr>
      </p:pic>
    </p:spTree>
  </p:cSld>
  <p:clrMapOvr>
    <a:masterClrMapping/>
  </p:clrMapOvr>
  <p:transition>
    <p:comb/>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79"/>
        <p:cNvGrpSpPr/>
        <p:nvPr/>
      </p:nvGrpSpPr>
      <p:grpSpPr>
        <a:xfrm>
          <a:off x="0" y="0"/>
          <a:ext cx="0" cy="0"/>
          <a:chOff x="0" y="0"/>
          <a:chExt cx="0" cy="0"/>
        </a:xfrm>
      </p:grpSpPr>
      <p:pic>
        <p:nvPicPr>
          <p:cNvPr id="180" name="Google Shape;180;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1" name="Google Shape;181;p20"/>
          <p:cNvSpPr/>
          <p:nvPr/>
        </p:nvSpPr>
        <p:spPr>
          <a:xfrm>
            <a:off x="5619750" y="2624137"/>
            <a:ext cx="952500" cy="47625"/>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2" name="Google Shape;182;p20"/>
          <p:cNvSpPr txBox="1"/>
          <p:nvPr/>
        </p:nvSpPr>
        <p:spPr>
          <a:xfrm>
            <a:off x="2270521" y="2957512"/>
            <a:ext cx="7650956" cy="685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a:solidFill>
                  <a:srgbClr val="F8FAFC"/>
                </a:solidFill>
                <a:latin typeface="Urbanist"/>
                <a:ea typeface="Urbanist"/>
                <a:cs typeface="Urbanist"/>
                <a:sym typeface="Urbanist"/>
              </a:rPr>
              <a:t>The Efficient ConSignformer</a:t>
            </a:r>
            <a:endParaRPr/>
          </a:p>
        </p:txBody>
      </p:sp>
      <p:sp>
        <p:nvSpPr>
          <p:cNvPr id="183" name="Google Shape;183;p20"/>
          <p:cNvSpPr txBox="1"/>
          <p:nvPr/>
        </p:nvSpPr>
        <p:spPr>
          <a:xfrm>
            <a:off x="2762250" y="3833812"/>
            <a:ext cx="6667500" cy="6858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a:solidFill>
                  <a:srgbClr val="CBD5E1"/>
                </a:solidFill>
                <a:latin typeface="Urbanist Medium"/>
                <a:ea typeface="Urbanist Medium"/>
                <a:cs typeface="Urbanist Medium"/>
                <a:sym typeface="Urbanist Medium"/>
              </a:rPr>
              <a:t>A lightweight Convolution-augmented Transformer tailored for real-time sequence translation.</a:t>
            </a:r>
            <a:endParaRPr/>
          </a:p>
        </p:txBody>
      </p:sp>
    </p:spTree>
  </p:cSld>
  <p:clrMapOvr>
    <a:masterClrMapping/>
  </p:clrMapOvr>
  <p:transition>
    <p:comb/>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87"/>
        <p:cNvGrpSpPr/>
        <p:nvPr/>
      </p:nvGrpSpPr>
      <p:grpSpPr>
        <a:xfrm>
          <a:off x="0" y="0"/>
          <a:ext cx="0" cy="0"/>
          <a:chOff x="0" y="0"/>
          <a:chExt cx="0" cy="0"/>
        </a:xfrm>
      </p:grpSpPr>
      <p:pic>
        <p:nvPicPr>
          <p:cNvPr id="188" name="Google Shape;188;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9" name="Google Shape;189;p21" descr="image.png"/>
          <p:cNvPicPr preferRelativeResize="0"/>
          <p:nvPr/>
        </p:nvPicPr>
        <p:blipFill rotWithShape="1">
          <a:blip r:embed="rId4">
            <a:alphaModFix/>
          </a:blip>
          <a:srcRect/>
          <a:stretch/>
        </p:blipFill>
        <p:spPr>
          <a:xfrm>
            <a:off x="571500" y="1857375"/>
            <a:ext cx="3429000" cy="3981450"/>
          </a:xfrm>
          <a:prstGeom prst="rect">
            <a:avLst/>
          </a:prstGeom>
          <a:noFill/>
          <a:ln>
            <a:noFill/>
          </a:ln>
        </p:spPr>
      </p:pic>
      <p:pic>
        <p:nvPicPr>
          <p:cNvPr id="190" name="Google Shape;190;p21" descr="image.png"/>
          <p:cNvPicPr preferRelativeResize="0"/>
          <p:nvPr/>
        </p:nvPicPr>
        <p:blipFill rotWithShape="1">
          <a:blip r:embed="rId5">
            <a:alphaModFix/>
          </a:blip>
          <a:srcRect/>
          <a:stretch/>
        </p:blipFill>
        <p:spPr>
          <a:xfrm>
            <a:off x="4381500" y="1857375"/>
            <a:ext cx="3429000" cy="3981450"/>
          </a:xfrm>
          <a:prstGeom prst="rect">
            <a:avLst/>
          </a:prstGeom>
          <a:noFill/>
          <a:ln>
            <a:noFill/>
          </a:ln>
        </p:spPr>
      </p:pic>
      <p:pic>
        <p:nvPicPr>
          <p:cNvPr id="191" name="Google Shape;191;p21" descr="image.png"/>
          <p:cNvPicPr preferRelativeResize="0"/>
          <p:nvPr/>
        </p:nvPicPr>
        <p:blipFill rotWithShape="1">
          <a:blip r:embed="rId5">
            <a:alphaModFix/>
          </a:blip>
          <a:srcRect/>
          <a:stretch/>
        </p:blipFill>
        <p:spPr>
          <a:xfrm>
            <a:off x="8191500" y="1857375"/>
            <a:ext cx="3429000" cy="3981450"/>
          </a:xfrm>
          <a:prstGeom prst="rect">
            <a:avLst/>
          </a:prstGeom>
          <a:noFill/>
          <a:ln>
            <a:noFill/>
          </a:ln>
        </p:spPr>
      </p:pic>
      <p:pic>
        <p:nvPicPr>
          <p:cNvPr id="192" name="Google Shape;192;p21" descr="image.png"/>
          <p:cNvPicPr preferRelativeResize="0"/>
          <p:nvPr/>
        </p:nvPicPr>
        <p:blipFill rotWithShape="1">
          <a:blip r:embed="rId6">
            <a:alphaModFix/>
          </a:blip>
          <a:srcRect/>
          <a:stretch/>
        </p:blipFill>
        <p:spPr>
          <a:xfrm>
            <a:off x="1809750" y="2152650"/>
            <a:ext cx="952500" cy="838200"/>
          </a:xfrm>
          <a:prstGeom prst="rect">
            <a:avLst/>
          </a:prstGeom>
          <a:noFill/>
          <a:ln>
            <a:noFill/>
          </a:ln>
        </p:spPr>
      </p:pic>
      <p:sp>
        <p:nvSpPr>
          <p:cNvPr id="193" name="Google Shape;193;p21"/>
          <p:cNvSpPr txBox="1"/>
          <p:nvPr/>
        </p:nvSpPr>
        <p:spPr>
          <a:xfrm>
            <a:off x="1255871" y="3181350"/>
            <a:ext cx="2060257" cy="3619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dirty="0">
                <a:solidFill>
                  <a:srgbClr val="38BDF8"/>
                </a:solidFill>
                <a:latin typeface="Urbanist"/>
                <a:ea typeface="Urbanist"/>
                <a:cs typeface="Urbanist"/>
                <a:sym typeface="Urbanist"/>
              </a:rPr>
              <a:t>Self-Attention</a:t>
            </a:r>
            <a:endParaRPr dirty="0"/>
          </a:p>
        </p:txBody>
      </p:sp>
      <p:sp>
        <p:nvSpPr>
          <p:cNvPr id="194" name="Google Shape;194;p21"/>
          <p:cNvSpPr txBox="1"/>
          <p:nvPr/>
        </p:nvSpPr>
        <p:spPr>
          <a:xfrm>
            <a:off x="866775" y="3686175"/>
            <a:ext cx="2838450" cy="17145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dirty="0">
                <a:solidFill>
                  <a:srgbClr val="CBD5E1"/>
                </a:solidFill>
                <a:latin typeface="Urbanist Medium"/>
                <a:ea typeface="Urbanist Medium"/>
                <a:cs typeface="Urbanist Medium"/>
                <a:sym typeface="Urbanist Medium"/>
              </a:rPr>
              <a:t>4 attention heads analyze the overarching global temporal alignment across the entire sentence simultaneously, providing deep sequence context.</a:t>
            </a:r>
            <a:endParaRPr dirty="0"/>
          </a:p>
        </p:txBody>
      </p:sp>
      <p:pic>
        <p:nvPicPr>
          <p:cNvPr id="195" name="Google Shape;195;p21" descr="image.png"/>
          <p:cNvPicPr preferRelativeResize="0"/>
          <p:nvPr/>
        </p:nvPicPr>
        <p:blipFill rotWithShape="1">
          <a:blip r:embed="rId7">
            <a:alphaModFix/>
          </a:blip>
          <a:srcRect/>
          <a:stretch/>
        </p:blipFill>
        <p:spPr>
          <a:xfrm>
            <a:off x="5619750" y="2152650"/>
            <a:ext cx="952500" cy="838200"/>
          </a:xfrm>
          <a:prstGeom prst="rect">
            <a:avLst/>
          </a:prstGeom>
          <a:noFill/>
          <a:ln>
            <a:noFill/>
          </a:ln>
        </p:spPr>
      </p:pic>
      <p:sp>
        <p:nvSpPr>
          <p:cNvPr id="196" name="Google Shape;196;p21"/>
          <p:cNvSpPr txBox="1"/>
          <p:nvPr/>
        </p:nvSpPr>
        <p:spPr>
          <a:xfrm>
            <a:off x="5030866" y="3181350"/>
            <a:ext cx="2130266" cy="3619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38BDF8"/>
                </a:solidFill>
                <a:latin typeface="Urbanist"/>
                <a:ea typeface="Urbanist"/>
                <a:cs typeface="Urbanist"/>
                <a:sym typeface="Urbanist"/>
              </a:rPr>
              <a:t>1D Convolution</a:t>
            </a:r>
            <a:endParaRPr/>
          </a:p>
        </p:txBody>
      </p:sp>
      <p:sp>
        <p:nvSpPr>
          <p:cNvPr id="197" name="Google Shape;197;p21"/>
          <p:cNvSpPr txBox="1"/>
          <p:nvPr/>
        </p:nvSpPr>
        <p:spPr>
          <a:xfrm>
            <a:off x="4676775" y="3686175"/>
            <a:ext cx="2838450" cy="14287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CBD5E1"/>
                </a:solidFill>
                <a:latin typeface="Urbanist Medium"/>
                <a:ea typeface="Urbanist Medium"/>
                <a:cs typeface="Urbanist Medium"/>
                <a:sym typeface="Urbanist Medium"/>
              </a:rPr>
              <a:t>A wide receptive field acts as an aggressive local feature extractor, mathematically smoothing out chaotic "movement epenthesis".</a:t>
            </a:r>
            <a:endParaRPr/>
          </a:p>
        </p:txBody>
      </p:sp>
      <p:pic>
        <p:nvPicPr>
          <p:cNvPr id="198" name="Google Shape;198;p21" descr="image.png"/>
          <p:cNvPicPr preferRelativeResize="0"/>
          <p:nvPr/>
        </p:nvPicPr>
        <p:blipFill rotWithShape="1">
          <a:blip r:embed="rId8">
            <a:alphaModFix/>
          </a:blip>
          <a:srcRect/>
          <a:stretch/>
        </p:blipFill>
        <p:spPr>
          <a:xfrm>
            <a:off x="9458325" y="2152650"/>
            <a:ext cx="895350" cy="838200"/>
          </a:xfrm>
          <a:prstGeom prst="rect">
            <a:avLst/>
          </a:prstGeom>
          <a:noFill/>
          <a:ln>
            <a:noFill/>
          </a:ln>
        </p:spPr>
      </p:pic>
      <p:sp>
        <p:nvSpPr>
          <p:cNvPr id="199" name="Google Shape;199;p21"/>
          <p:cNvSpPr txBox="1"/>
          <p:nvPr/>
        </p:nvSpPr>
        <p:spPr>
          <a:xfrm>
            <a:off x="8925877" y="3181350"/>
            <a:ext cx="1960245" cy="3619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38BDF8"/>
                </a:solidFill>
                <a:latin typeface="Urbanist"/>
                <a:ea typeface="Urbanist"/>
                <a:cs typeface="Urbanist"/>
                <a:sym typeface="Urbanist"/>
              </a:rPr>
              <a:t>Classification</a:t>
            </a:r>
            <a:endParaRPr/>
          </a:p>
        </p:txBody>
      </p:sp>
      <p:sp>
        <p:nvSpPr>
          <p:cNvPr id="200" name="Google Shape;200;p21"/>
          <p:cNvSpPr txBox="1"/>
          <p:nvPr/>
        </p:nvSpPr>
        <p:spPr>
          <a:xfrm>
            <a:off x="8486775" y="3686175"/>
            <a:ext cx="2838450" cy="14287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CBD5E1"/>
                </a:solidFill>
                <a:latin typeface="Urbanist Medium"/>
                <a:ea typeface="Urbanist Medium"/>
                <a:cs typeface="Urbanist Medium"/>
                <a:sym typeface="Urbanist Medium"/>
              </a:rPr>
              <a:t>A dense Feed Forward module and Log-Softmax classification head project the compressed features into 278 unique vocabulary tokens.</a:t>
            </a:r>
            <a:endParaRPr/>
          </a:p>
        </p:txBody>
      </p:sp>
      <p:pic>
        <p:nvPicPr>
          <p:cNvPr id="201" name="Google Shape;201;p21" descr="image.png"/>
          <p:cNvPicPr preferRelativeResize="0"/>
          <p:nvPr/>
        </p:nvPicPr>
        <p:blipFill rotWithShape="1">
          <a:blip r:embed="rId9">
            <a:alphaModFix/>
          </a:blip>
          <a:srcRect/>
          <a:stretch/>
        </p:blipFill>
        <p:spPr>
          <a:xfrm>
            <a:off x="2000250" y="2343150"/>
            <a:ext cx="571500" cy="457200"/>
          </a:xfrm>
          <a:prstGeom prst="rect">
            <a:avLst/>
          </a:prstGeom>
          <a:noFill/>
          <a:ln>
            <a:noFill/>
          </a:ln>
        </p:spPr>
      </p:pic>
      <p:pic>
        <p:nvPicPr>
          <p:cNvPr id="202" name="Google Shape;202;p21" descr="image.png"/>
          <p:cNvPicPr preferRelativeResize="0"/>
          <p:nvPr/>
        </p:nvPicPr>
        <p:blipFill rotWithShape="1">
          <a:blip r:embed="rId10">
            <a:alphaModFix/>
          </a:blip>
          <a:srcRect/>
          <a:stretch/>
        </p:blipFill>
        <p:spPr>
          <a:xfrm>
            <a:off x="5810250" y="2343150"/>
            <a:ext cx="571500" cy="457200"/>
          </a:xfrm>
          <a:prstGeom prst="rect">
            <a:avLst/>
          </a:prstGeom>
          <a:noFill/>
          <a:ln>
            <a:noFill/>
          </a:ln>
        </p:spPr>
      </p:pic>
      <p:pic>
        <p:nvPicPr>
          <p:cNvPr id="203" name="Google Shape;203;p21" descr="image.png"/>
          <p:cNvPicPr preferRelativeResize="0"/>
          <p:nvPr/>
        </p:nvPicPr>
        <p:blipFill rotWithShape="1">
          <a:blip r:embed="rId11">
            <a:alphaModFix/>
          </a:blip>
          <a:srcRect/>
          <a:stretch/>
        </p:blipFill>
        <p:spPr>
          <a:xfrm>
            <a:off x="9648825" y="2343150"/>
            <a:ext cx="514350" cy="457200"/>
          </a:xfrm>
          <a:prstGeom prst="rect">
            <a:avLst/>
          </a:prstGeom>
          <a:noFill/>
          <a:ln>
            <a:noFill/>
          </a:ln>
        </p:spPr>
      </p:pic>
      <p:sp>
        <p:nvSpPr>
          <p:cNvPr id="204" name="Google Shape;204;p21"/>
          <p:cNvSpPr txBox="1"/>
          <p:nvPr/>
        </p:nvSpPr>
        <p:spPr>
          <a:xfrm>
            <a:off x="571500" y="571500"/>
            <a:ext cx="1160145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Architecture Core Components</a:t>
            </a:r>
            <a:endParaRPr/>
          </a:p>
        </p:txBody>
      </p:sp>
    </p:spTree>
  </p:cSld>
  <p:clrMapOvr>
    <a:masterClrMapping/>
  </p:clrMapOvr>
  <p:transition>
    <p:comb/>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08"/>
        <p:cNvGrpSpPr/>
        <p:nvPr/>
      </p:nvGrpSpPr>
      <p:grpSpPr>
        <a:xfrm>
          <a:off x="0" y="0"/>
          <a:ext cx="0" cy="0"/>
          <a:chOff x="0" y="0"/>
          <a:chExt cx="0" cy="0"/>
        </a:xfrm>
      </p:grpSpPr>
      <p:pic>
        <p:nvPicPr>
          <p:cNvPr id="209" name="Google Shape;209;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10" name="Google Shape;210;p22"/>
          <p:cNvSpPr txBox="1"/>
          <p:nvPr/>
        </p:nvSpPr>
        <p:spPr>
          <a:xfrm>
            <a:off x="571500" y="2505075"/>
            <a:ext cx="5286375" cy="142875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1250" b="1" i="0" u="none" strike="noStrike" cap="none">
                <a:solidFill>
                  <a:srgbClr val="38BDF8"/>
                </a:solidFill>
                <a:latin typeface="Urbanist"/>
                <a:ea typeface="Urbanist"/>
                <a:cs typeface="Urbanist"/>
                <a:sym typeface="Urbanist"/>
              </a:rPr>
              <a:t>50</a:t>
            </a:r>
            <a:endParaRPr/>
          </a:p>
        </p:txBody>
      </p:sp>
      <p:sp>
        <p:nvSpPr>
          <p:cNvPr id="211" name="Google Shape;211;p22"/>
          <p:cNvSpPr txBox="1"/>
          <p:nvPr/>
        </p:nvSpPr>
        <p:spPr>
          <a:xfrm>
            <a:off x="571500" y="3933825"/>
            <a:ext cx="5286375"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CBD5E1"/>
                </a:solidFill>
                <a:latin typeface="Urbanist"/>
                <a:ea typeface="Urbanist"/>
                <a:cs typeface="Urbanist"/>
                <a:sym typeface="Urbanist"/>
              </a:rPr>
              <a:t>Active Hypotheses (k=50)</a:t>
            </a:r>
            <a:endParaRPr/>
          </a:p>
        </p:txBody>
      </p:sp>
      <p:sp>
        <p:nvSpPr>
          <p:cNvPr id="212" name="Google Shape;212;p22"/>
          <p:cNvSpPr txBox="1"/>
          <p:nvPr/>
        </p:nvSpPr>
        <p:spPr>
          <a:xfrm>
            <a:off x="6334125" y="2505075"/>
            <a:ext cx="5550693"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F8FAFC"/>
                </a:solidFill>
                <a:latin typeface="Urbanist"/>
                <a:ea typeface="Urbanist"/>
                <a:cs typeface="Urbanist"/>
                <a:sym typeface="Urbanist"/>
              </a:rPr>
              <a:t>Holistic Context Evaluation</a:t>
            </a:r>
            <a:endParaRPr/>
          </a:p>
        </p:txBody>
      </p:sp>
      <p:sp>
        <p:nvSpPr>
          <p:cNvPr id="213" name="Google Shape;213;p22"/>
          <p:cNvSpPr txBox="1"/>
          <p:nvPr/>
        </p:nvSpPr>
        <p:spPr>
          <a:xfrm>
            <a:off x="6334125" y="3009900"/>
            <a:ext cx="5286375" cy="8572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BD5E1"/>
                </a:solidFill>
                <a:latin typeface="Urbanist Medium"/>
                <a:ea typeface="Urbanist Medium"/>
                <a:cs typeface="Urbanist Medium"/>
                <a:sym typeface="Urbanist Medium"/>
              </a:rPr>
              <a:t>Instead of relying on a fragile Greedy Decoder that guesses frame-by-frame, the Beam Search evaluates the cumulative mathematical probability of 50 simultaneous sentence paths.</a:t>
            </a:r>
            <a:endParaRPr/>
          </a:p>
        </p:txBody>
      </p:sp>
      <p:sp>
        <p:nvSpPr>
          <p:cNvPr id="214" name="Google Shape;214;p22"/>
          <p:cNvSpPr txBox="1"/>
          <p:nvPr/>
        </p:nvSpPr>
        <p:spPr>
          <a:xfrm>
            <a:off x="6334125" y="4191000"/>
            <a:ext cx="5286375" cy="8572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BD5E1"/>
                </a:solidFill>
                <a:latin typeface="Urbanist Medium"/>
                <a:ea typeface="Urbanist Medium"/>
                <a:cs typeface="Urbanist Medium"/>
                <a:sym typeface="Urbanist Medium"/>
              </a:rPr>
              <a:t>By evaluating the whole sequence, the network dynamically recovers from blurry frames and seamlessly substitutes structurally valid grammar.</a:t>
            </a:r>
            <a:endParaRPr/>
          </a:p>
        </p:txBody>
      </p:sp>
      <p:sp>
        <p:nvSpPr>
          <p:cNvPr id="215" name="Google Shape;215;p22"/>
          <p:cNvSpPr txBox="1"/>
          <p:nvPr/>
        </p:nvSpPr>
        <p:spPr>
          <a:xfrm>
            <a:off x="571500" y="571500"/>
            <a:ext cx="1160145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Beam Search Decoding</a:t>
            </a:r>
            <a:endParaRPr/>
          </a:p>
        </p:txBody>
      </p:sp>
    </p:spTree>
  </p:cSld>
  <p:clrMapOvr>
    <a:masterClrMapping/>
  </p:clrMapOvr>
  <p:transition>
    <p:comb/>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19"/>
        <p:cNvGrpSpPr/>
        <p:nvPr/>
      </p:nvGrpSpPr>
      <p:grpSpPr>
        <a:xfrm>
          <a:off x="0" y="0"/>
          <a:ext cx="0" cy="0"/>
          <a:chOff x="0" y="0"/>
          <a:chExt cx="0" cy="0"/>
        </a:xfrm>
      </p:grpSpPr>
      <p:pic>
        <p:nvPicPr>
          <p:cNvPr id="220" name="Google Shape;220;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21" name="Google Shape;221;p23"/>
          <p:cNvSpPr txBox="1"/>
          <p:nvPr/>
        </p:nvSpPr>
        <p:spPr>
          <a:xfrm>
            <a:off x="1333500" y="2114550"/>
            <a:ext cx="4524375" cy="8572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BD5E1"/>
                </a:solidFill>
                <a:latin typeface="Urbanist Medium"/>
                <a:ea typeface="Urbanist Medium"/>
                <a:cs typeface="Urbanist Medium"/>
                <a:sym typeface="Urbanist Medium"/>
              </a:rPr>
              <a:t>Unrestricted multi-modal fusion initially triggered severe </a:t>
            </a:r>
            <a:r>
              <a:rPr lang="en-US" sz="1500" b="1" i="0" u="none" strike="noStrike" cap="none">
                <a:solidFill>
                  <a:srgbClr val="F8FAFC"/>
                </a:solidFill>
                <a:latin typeface="Urbanist"/>
                <a:ea typeface="Urbanist"/>
                <a:cs typeface="Urbanist"/>
                <a:sym typeface="Urbanist"/>
              </a:rPr>
              <a:t>Catastrophic Forgetting</a:t>
            </a:r>
            <a:r>
              <a:rPr lang="en-US" sz="1500" b="0" i="0" u="none" strike="noStrike" cap="none">
                <a:solidFill>
                  <a:srgbClr val="CBD5E1"/>
                </a:solidFill>
                <a:latin typeface="Urbanist Medium"/>
                <a:ea typeface="Urbanist Medium"/>
                <a:cs typeface="Urbanist Medium"/>
                <a:sym typeface="Urbanist Medium"/>
              </a:rPr>
              <a:t>, washing out continuous video gradients.</a:t>
            </a:r>
            <a:endParaRPr/>
          </a:p>
        </p:txBody>
      </p:sp>
      <p:sp>
        <p:nvSpPr>
          <p:cNvPr id="222" name="Google Shape;222;p23"/>
          <p:cNvSpPr txBox="1"/>
          <p:nvPr/>
        </p:nvSpPr>
        <p:spPr>
          <a:xfrm>
            <a:off x="1333500" y="3162300"/>
            <a:ext cx="45243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BD5E1"/>
                </a:solidFill>
                <a:latin typeface="Urbanist Medium"/>
                <a:ea typeface="Urbanist Medium"/>
                <a:cs typeface="Urbanist Medium"/>
                <a:sym typeface="Urbanist Medium"/>
              </a:rPr>
              <a:t>We enforced strict programmatic dataset caps (maximum 7 simulations per static letter class).</a:t>
            </a:r>
            <a:endParaRPr/>
          </a:p>
        </p:txBody>
      </p:sp>
      <p:sp>
        <p:nvSpPr>
          <p:cNvPr id="223" name="Google Shape;223;p23"/>
          <p:cNvSpPr txBox="1"/>
          <p:nvPr/>
        </p:nvSpPr>
        <p:spPr>
          <a:xfrm>
            <a:off x="1333500" y="3924300"/>
            <a:ext cx="4524375"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BD5E1"/>
                </a:solidFill>
                <a:latin typeface="Urbanist Medium"/>
                <a:ea typeface="Urbanist Medium"/>
                <a:cs typeface="Urbanist Medium"/>
                <a:sym typeface="Urbanist Medium"/>
              </a:rPr>
              <a:t>Isolated words acted as a </a:t>
            </a:r>
            <a:r>
              <a:rPr lang="en-US" sz="1500" b="1" i="0" u="none" strike="noStrike" cap="none">
                <a:solidFill>
                  <a:srgbClr val="F8FAFC"/>
                </a:solidFill>
                <a:latin typeface="Urbanist"/>
                <a:ea typeface="Urbanist"/>
                <a:cs typeface="Urbanist"/>
                <a:sym typeface="Urbanist"/>
              </a:rPr>
              <a:t>Curriculum Learning</a:t>
            </a:r>
            <a:r>
              <a:rPr lang="en-US" sz="1500" b="0" i="0" u="none" strike="noStrike" cap="none">
                <a:solidFill>
                  <a:srgbClr val="CBD5E1"/>
                </a:solidFill>
                <a:latin typeface="Urbanist Medium"/>
                <a:ea typeface="Urbanist Medium"/>
                <a:cs typeface="Urbanist Medium"/>
                <a:sym typeface="Urbanist Medium"/>
              </a:rPr>
              <a:t> bridge to smooth out "Vocabulary Shock".</a:t>
            </a:r>
            <a:endParaRPr/>
          </a:p>
        </p:txBody>
      </p:sp>
      <p:sp>
        <p:nvSpPr>
          <p:cNvPr id="224" name="Google Shape;224;p23"/>
          <p:cNvSpPr txBox="1"/>
          <p:nvPr/>
        </p:nvSpPr>
        <p:spPr>
          <a:xfrm>
            <a:off x="1333500" y="4686300"/>
            <a:ext cx="4524375" cy="8572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BD5E1"/>
                </a:solidFill>
                <a:latin typeface="Urbanist Medium"/>
                <a:ea typeface="Urbanist Medium"/>
                <a:cs typeface="Urbanist Medium"/>
                <a:sym typeface="Urbanist Medium"/>
              </a:rPr>
              <a:t>The AI learned to identify the spatial boundaries of isolated signs before tackling high-speed continuous sentences.</a:t>
            </a:r>
            <a:endParaRPr/>
          </a:p>
        </p:txBody>
      </p:sp>
      <p:sp>
        <p:nvSpPr>
          <p:cNvPr id="226" name="Google Shape;226;p23"/>
          <p:cNvSpPr txBox="1"/>
          <p:nvPr/>
        </p:nvSpPr>
        <p:spPr>
          <a:xfrm>
            <a:off x="571500" y="571500"/>
            <a:ext cx="1160145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Curriculum Synergy Framework</a:t>
            </a:r>
            <a:endParaRPr/>
          </a:p>
        </p:txBody>
      </p:sp>
      <p:pic>
        <p:nvPicPr>
          <p:cNvPr id="227" name="Google Shape;227;p23" descr="image.png"/>
          <p:cNvPicPr preferRelativeResize="0"/>
          <p:nvPr/>
        </p:nvPicPr>
        <p:blipFill rotWithShape="1">
          <a:blip r:embed="rId4">
            <a:alphaModFix/>
          </a:blip>
          <a:srcRect/>
          <a:stretch/>
        </p:blipFill>
        <p:spPr>
          <a:xfrm>
            <a:off x="952500" y="2192592"/>
            <a:ext cx="114300" cy="200025"/>
          </a:xfrm>
          <a:prstGeom prst="rect">
            <a:avLst/>
          </a:prstGeom>
          <a:noFill/>
          <a:ln>
            <a:noFill/>
          </a:ln>
        </p:spPr>
      </p:pic>
      <p:pic>
        <p:nvPicPr>
          <p:cNvPr id="228" name="Google Shape;228;p23" descr="image.png"/>
          <p:cNvPicPr preferRelativeResize="0"/>
          <p:nvPr/>
        </p:nvPicPr>
        <p:blipFill rotWithShape="1">
          <a:blip r:embed="rId4">
            <a:alphaModFix/>
          </a:blip>
          <a:srcRect/>
          <a:stretch/>
        </p:blipFill>
        <p:spPr>
          <a:xfrm>
            <a:off x="952500" y="3240342"/>
            <a:ext cx="114300" cy="200025"/>
          </a:xfrm>
          <a:prstGeom prst="rect">
            <a:avLst/>
          </a:prstGeom>
          <a:noFill/>
          <a:ln>
            <a:noFill/>
          </a:ln>
        </p:spPr>
      </p:pic>
      <p:pic>
        <p:nvPicPr>
          <p:cNvPr id="229" name="Google Shape;229;p23" descr="image.png"/>
          <p:cNvPicPr preferRelativeResize="0"/>
          <p:nvPr/>
        </p:nvPicPr>
        <p:blipFill rotWithShape="1">
          <a:blip r:embed="rId4">
            <a:alphaModFix/>
          </a:blip>
          <a:srcRect/>
          <a:stretch/>
        </p:blipFill>
        <p:spPr>
          <a:xfrm>
            <a:off x="952500" y="4002342"/>
            <a:ext cx="114300" cy="200025"/>
          </a:xfrm>
          <a:prstGeom prst="rect">
            <a:avLst/>
          </a:prstGeom>
          <a:noFill/>
          <a:ln>
            <a:noFill/>
          </a:ln>
        </p:spPr>
      </p:pic>
      <p:pic>
        <p:nvPicPr>
          <p:cNvPr id="230" name="Google Shape;230;p23" descr="image.png"/>
          <p:cNvPicPr preferRelativeResize="0"/>
          <p:nvPr/>
        </p:nvPicPr>
        <p:blipFill rotWithShape="1">
          <a:blip r:embed="rId4">
            <a:alphaModFix/>
          </a:blip>
          <a:srcRect/>
          <a:stretch/>
        </p:blipFill>
        <p:spPr>
          <a:xfrm>
            <a:off x="952500" y="4764342"/>
            <a:ext cx="114300" cy="200025"/>
          </a:xfrm>
          <a:prstGeom prst="rect">
            <a:avLst/>
          </a:prstGeom>
          <a:noFill/>
          <a:ln>
            <a:noFill/>
          </a:ln>
        </p:spPr>
      </p:pic>
      <p:pic>
        <p:nvPicPr>
          <p:cNvPr id="4" name="Picture 3">
            <a:extLst>
              <a:ext uri="{FF2B5EF4-FFF2-40B4-BE49-F238E27FC236}">
                <a16:creationId xmlns:a16="http://schemas.microsoft.com/office/drawing/2014/main" id="{53142511-217E-1A79-475B-673EA87F5028}"/>
              </a:ext>
            </a:extLst>
          </p:cNvPr>
          <p:cNvPicPr>
            <a:picLocks noChangeAspect="1"/>
          </p:cNvPicPr>
          <p:nvPr/>
        </p:nvPicPr>
        <p:blipFill>
          <a:blip r:embed="rId5"/>
          <a:stretch>
            <a:fillRect/>
          </a:stretch>
        </p:blipFill>
        <p:spPr>
          <a:xfrm>
            <a:off x="7413523" y="1860140"/>
            <a:ext cx="3747319" cy="3747319"/>
          </a:xfrm>
          <a:prstGeom prst="rect">
            <a:avLst/>
          </a:prstGeom>
          <a:ln>
            <a:noFill/>
          </a:ln>
          <a:effectLst>
            <a:outerShdw blurRad="190500" algn="tl" rotWithShape="0">
              <a:srgbClr val="000000">
                <a:alpha val="70000"/>
              </a:srgbClr>
            </a:outerShdw>
          </a:effectLst>
        </p:spPr>
      </p:pic>
    </p:spTree>
  </p:cSld>
  <p:clrMapOvr>
    <a:masterClrMapping/>
  </p:clrMapOvr>
  <p:transition>
    <p:comb/>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34"/>
        <p:cNvGrpSpPr/>
        <p:nvPr/>
      </p:nvGrpSpPr>
      <p:grpSpPr>
        <a:xfrm>
          <a:off x="0" y="0"/>
          <a:ext cx="0" cy="0"/>
          <a:chOff x="0" y="0"/>
          <a:chExt cx="0" cy="0"/>
        </a:xfrm>
      </p:grpSpPr>
      <p:pic>
        <p:nvPicPr>
          <p:cNvPr id="235" name="Google Shape;235;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36" name="Google Shape;236;p24" descr="image.png"/>
          <p:cNvPicPr preferRelativeResize="0"/>
          <p:nvPr/>
        </p:nvPicPr>
        <p:blipFill rotWithShape="1">
          <a:blip r:embed="rId4">
            <a:alphaModFix/>
          </a:blip>
          <a:srcRect/>
          <a:stretch/>
        </p:blipFill>
        <p:spPr>
          <a:xfrm>
            <a:off x="571500" y="1409700"/>
            <a:ext cx="11049000" cy="4876800"/>
          </a:xfrm>
          <a:prstGeom prst="rect">
            <a:avLst/>
          </a:prstGeom>
          <a:noFill/>
          <a:ln>
            <a:noFill/>
          </a:ln>
        </p:spPr>
      </p:pic>
      <p:sp>
        <p:nvSpPr>
          <p:cNvPr id="237" name="Google Shape;237;p24"/>
          <p:cNvSpPr txBox="1"/>
          <p:nvPr/>
        </p:nvSpPr>
        <p:spPr>
          <a:xfrm>
            <a:off x="1123950" y="4641205"/>
            <a:ext cx="9944100" cy="5715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1" u="none" strike="noStrike" cap="none">
                <a:solidFill>
                  <a:srgbClr val="CBD5E1"/>
                </a:solidFill>
                <a:latin typeface="Urbanist Medium"/>
                <a:ea typeface="Urbanist Medium"/>
                <a:cs typeface="Urbanist Medium"/>
                <a:sym typeface="Urbanist Medium"/>
              </a:rPr>
              <a:t>The final ConSignformer drastically outperforms the baseline. A 24.3% WER proves the architecture successfully maps spatial-temporal geometry into sound English syntax without hallucinating strings of text.</a:t>
            </a:r>
            <a:endParaRPr/>
          </a:p>
        </p:txBody>
      </p:sp>
      <p:pic>
        <p:nvPicPr>
          <p:cNvPr id="238" name="Google Shape;238;p24" descr="image.png"/>
          <p:cNvPicPr preferRelativeResize="0"/>
          <p:nvPr/>
        </p:nvPicPr>
        <p:blipFill rotWithShape="1">
          <a:blip r:embed="rId5">
            <a:alphaModFix/>
          </a:blip>
          <a:srcRect/>
          <a:stretch/>
        </p:blipFill>
        <p:spPr>
          <a:xfrm>
            <a:off x="4512766" y="2531119"/>
            <a:ext cx="3166318" cy="395585"/>
          </a:xfrm>
          <a:prstGeom prst="rect">
            <a:avLst/>
          </a:prstGeom>
          <a:noFill/>
          <a:ln>
            <a:noFill/>
          </a:ln>
        </p:spPr>
      </p:pic>
      <p:sp>
        <p:nvSpPr>
          <p:cNvPr id="239" name="Google Shape;239;p24"/>
          <p:cNvSpPr txBox="1"/>
          <p:nvPr/>
        </p:nvSpPr>
        <p:spPr>
          <a:xfrm>
            <a:off x="571500" y="571500"/>
            <a:ext cx="1160145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Ablation Study &amp; WER Results</a:t>
            </a:r>
            <a:endParaRPr/>
          </a:p>
        </p:txBody>
      </p:sp>
    </p:spTree>
  </p:cSld>
  <p:clrMapOvr>
    <a:masterClrMapping/>
  </p:clrMapOvr>
  <p:transition>
    <p:comb/>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43"/>
        <p:cNvGrpSpPr/>
        <p:nvPr/>
      </p:nvGrpSpPr>
      <p:grpSpPr>
        <a:xfrm>
          <a:off x="0" y="0"/>
          <a:ext cx="0" cy="0"/>
          <a:chOff x="0" y="0"/>
          <a:chExt cx="0" cy="0"/>
        </a:xfrm>
      </p:grpSpPr>
      <p:pic>
        <p:nvPicPr>
          <p:cNvPr id="244" name="Google Shape;244;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7" name="Google Shape;247;p25"/>
          <p:cNvSpPr txBox="1"/>
          <p:nvPr/>
        </p:nvSpPr>
        <p:spPr>
          <a:xfrm>
            <a:off x="571500" y="387697"/>
            <a:ext cx="1160145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Training Convergence Trends</a:t>
            </a:r>
            <a:endParaRPr/>
          </a:p>
        </p:txBody>
      </p:sp>
      <p:pic>
        <p:nvPicPr>
          <p:cNvPr id="2" name="Image 0" descr="preencoded.png">
            <a:extLst>
              <a:ext uri="{FF2B5EF4-FFF2-40B4-BE49-F238E27FC236}">
                <a16:creationId xmlns:a16="http://schemas.microsoft.com/office/drawing/2014/main" id="{D47D8CAC-E45A-3025-75D8-031CDE8B75C8}"/>
              </a:ext>
            </a:extLst>
          </p:cNvPr>
          <p:cNvPicPr>
            <a:picLocks noChangeAspect="1"/>
          </p:cNvPicPr>
          <p:nvPr/>
        </p:nvPicPr>
        <p:blipFill>
          <a:blip r:embed="rId4"/>
          <a:stretch>
            <a:fillRect/>
          </a:stretch>
        </p:blipFill>
        <p:spPr>
          <a:xfrm>
            <a:off x="1123950" y="1131291"/>
            <a:ext cx="9944099" cy="459541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ransition>
    <p:comb/>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51"/>
        <p:cNvGrpSpPr/>
        <p:nvPr/>
      </p:nvGrpSpPr>
      <p:grpSpPr>
        <a:xfrm>
          <a:off x="0" y="0"/>
          <a:ext cx="0" cy="0"/>
          <a:chOff x="0" y="0"/>
          <a:chExt cx="0" cy="0"/>
        </a:xfrm>
      </p:grpSpPr>
      <p:pic>
        <p:nvPicPr>
          <p:cNvPr id="252" name="Google Shape;252;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3" name="Google Shape;253;p26"/>
          <p:cNvSpPr txBox="1"/>
          <p:nvPr/>
        </p:nvSpPr>
        <p:spPr>
          <a:xfrm>
            <a:off x="571500" y="571500"/>
            <a:ext cx="5550693"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a:solidFill>
                  <a:srgbClr val="F8FAFC"/>
                </a:solidFill>
                <a:latin typeface="Urbanist"/>
                <a:ea typeface="Urbanist"/>
                <a:cs typeface="Urbanist"/>
                <a:sym typeface="Urbanist"/>
              </a:rPr>
              <a:t>Real-Time Web Deployment</a:t>
            </a:r>
            <a:endParaRPr dirty="0"/>
          </a:p>
        </p:txBody>
      </p:sp>
      <p:sp>
        <p:nvSpPr>
          <p:cNvPr id="254" name="Google Shape;254;p26"/>
          <p:cNvSpPr txBox="1"/>
          <p:nvPr/>
        </p:nvSpPr>
        <p:spPr>
          <a:xfrm>
            <a:off x="571500" y="2371725"/>
            <a:ext cx="10410300" cy="7605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900" b="0" i="0" u="none" strike="noStrike" cap="none">
                <a:solidFill>
                  <a:srgbClr val="CBD5E1"/>
                </a:solidFill>
                <a:latin typeface="Urbanist Medium"/>
                <a:ea typeface="Urbanist Medium"/>
                <a:cs typeface="Urbanist Medium"/>
                <a:sym typeface="Urbanist Medium"/>
              </a:rPr>
              <a:t>The highly compressed mathematical weights are successfully exported and deployed into an interactive Streamlit web application.</a:t>
            </a:r>
            <a:endParaRPr sz="1900"/>
          </a:p>
        </p:txBody>
      </p:sp>
      <p:sp>
        <p:nvSpPr>
          <p:cNvPr id="255" name="Google Shape;255;p26"/>
          <p:cNvSpPr txBox="1"/>
          <p:nvPr/>
        </p:nvSpPr>
        <p:spPr>
          <a:xfrm>
            <a:off x="571500" y="3619500"/>
            <a:ext cx="10410300" cy="7605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900" b="0" i="0" u="none" strike="noStrike" cap="none">
                <a:solidFill>
                  <a:srgbClr val="CBD5E1"/>
                </a:solidFill>
                <a:latin typeface="Urbanist Medium"/>
                <a:ea typeface="Urbanist Medium"/>
                <a:cs typeface="Urbanist Medium"/>
                <a:sym typeface="Urbanist Medium"/>
              </a:rPr>
              <a:t>Utilizing a live WebRTC camera feed, it instantly extracts coordinates and outputs text with virtually zero latency.</a:t>
            </a:r>
            <a:endParaRPr sz="1900"/>
          </a:p>
        </p:txBody>
      </p:sp>
      <p:sp>
        <p:nvSpPr>
          <p:cNvPr id="256" name="Google Shape;256;p26"/>
          <p:cNvSpPr txBox="1"/>
          <p:nvPr/>
        </p:nvSpPr>
        <p:spPr>
          <a:xfrm>
            <a:off x="571500" y="4742950"/>
            <a:ext cx="10410300" cy="2925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900" b="0" i="0" u="none" strike="noStrike" cap="none">
                <a:solidFill>
                  <a:srgbClr val="CBD5E1"/>
                </a:solidFill>
                <a:latin typeface="Urbanist Medium"/>
                <a:ea typeface="Urbanist Medium"/>
                <a:cs typeface="Urbanist Medium"/>
                <a:sym typeface="Urbanist Medium"/>
              </a:rPr>
              <a:t>The system natively supports both live video and static photo uploads on consumer hardware.</a:t>
            </a:r>
            <a:endParaRPr sz="1900"/>
          </a:p>
        </p:txBody>
      </p:sp>
    </p:spTree>
  </p:cSld>
  <p:clrMapOvr>
    <a:masterClrMapping/>
  </p:clrMapOvr>
  <p:transition>
    <p:comb/>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2EA31-A64F-930B-A901-123DB364DEBF}"/>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57BE22EC-B9F3-00BB-D6F6-453EB68CCA19}"/>
              </a:ext>
            </a:extLst>
          </p:cNvPr>
          <p:cNvSpPr>
            <a:spLocks noGrp="1"/>
          </p:cNvSpPr>
          <p:nvPr>
            <p:ph type="subTitle" idx="1"/>
          </p:nvPr>
        </p:nvSpPr>
        <p:spPr/>
        <p:txBody>
          <a:bodyPr/>
          <a:lstStyle/>
          <a:p>
            <a:endParaRPr lang="en-IN"/>
          </a:p>
        </p:txBody>
      </p:sp>
      <p:pic>
        <p:nvPicPr>
          <p:cNvPr id="4" name="Google Shape;252;p26" descr="image.png">
            <a:extLst>
              <a:ext uri="{FF2B5EF4-FFF2-40B4-BE49-F238E27FC236}">
                <a16:creationId xmlns:a16="http://schemas.microsoft.com/office/drawing/2014/main" id="{6007E00D-8B18-9ACD-F3E7-0391745720A5}"/>
              </a:ext>
            </a:extLst>
          </p:cNvPr>
          <p:cNvPicPr preferRelativeResize="0"/>
          <p:nvPr/>
        </p:nvPicPr>
        <p:blipFill rotWithShape="1">
          <a:blip r:embed="rId2">
            <a:alphaModFix/>
          </a:blip>
          <a:srcRect/>
          <a:stretch/>
        </p:blipFill>
        <p:spPr>
          <a:xfrm>
            <a:off x="-206477" y="-806245"/>
            <a:ext cx="12565625" cy="8072284"/>
          </a:xfrm>
          <a:prstGeom prst="rect">
            <a:avLst/>
          </a:prstGeom>
          <a:noFill/>
          <a:ln>
            <a:noFill/>
          </a:ln>
        </p:spPr>
      </p:pic>
      <p:pic>
        <p:nvPicPr>
          <p:cNvPr id="8" name="Picture 7">
            <a:extLst>
              <a:ext uri="{FF2B5EF4-FFF2-40B4-BE49-F238E27FC236}">
                <a16:creationId xmlns:a16="http://schemas.microsoft.com/office/drawing/2014/main" id="{FB992707-B935-FEAB-E0D7-A9BBDEB67CEB}"/>
              </a:ext>
            </a:extLst>
          </p:cNvPr>
          <p:cNvPicPr>
            <a:picLocks noChangeAspect="1"/>
          </p:cNvPicPr>
          <p:nvPr/>
        </p:nvPicPr>
        <p:blipFill>
          <a:blip r:embed="rId3"/>
          <a:stretch>
            <a:fillRect/>
          </a:stretch>
        </p:blipFill>
        <p:spPr>
          <a:xfrm>
            <a:off x="1246015" y="636639"/>
            <a:ext cx="9699970" cy="558472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027366609"/>
      </p:ext>
    </p:extLst>
  </p:cSld>
  <p:clrMapOvr>
    <a:masterClrMapping/>
  </p:clrMapOvr>
  <p:transition>
    <p:comb/>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7238E1D-ED05-31E6-9543-35500454EC91}"/>
              </a:ext>
            </a:extLst>
          </p:cNvPr>
          <p:cNvPicPr>
            <a:picLocks noChangeAspect="1"/>
          </p:cNvPicPr>
          <p:nvPr/>
        </p:nvPicPr>
        <p:blipFill>
          <a:blip r:embed="rId2"/>
          <a:stretch>
            <a:fillRect/>
          </a:stretch>
        </p:blipFill>
        <p:spPr>
          <a:xfrm>
            <a:off x="-725049" y="-393290"/>
            <a:ext cx="13271010" cy="7659329"/>
          </a:xfrm>
          <a:prstGeom prst="rect">
            <a:avLst/>
          </a:prstGeom>
        </p:spPr>
      </p:pic>
      <p:sp>
        <p:nvSpPr>
          <p:cNvPr id="2" name="Title 1">
            <a:extLst>
              <a:ext uri="{FF2B5EF4-FFF2-40B4-BE49-F238E27FC236}">
                <a16:creationId xmlns:a16="http://schemas.microsoft.com/office/drawing/2014/main" id="{906F77DB-C7B7-1718-069B-9FD30D18FE0F}"/>
              </a:ext>
            </a:extLst>
          </p:cNvPr>
          <p:cNvSpPr>
            <a:spLocks noGrp="1"/>
          </p:cNvSpPr>
          <p:nvPr>
            <p:ph type="ctrTitle"/>
          </p:nvPr>
        </p:nvSpPr>
        <p:spPr>
          <a:xfrm>
            <a:off x="422783" y="471949"/>
            <a:ext cx="4810431" cy="611440"/>
          </a:xfrm>
        </p:spPr>
        <p:txBody>
          <a:bodyPr>
            <a:normAutofit/>
          </a:bodyPr>
          <a:lstStyle/>
          <a:p>
            <a:r>
              <a:rPr lang="en-US" sz="3000" b="1" dirty="0">
                <a:solidFill>
                  <a:schemeClr val="bg1"/>
                </a:solidFill>
                <a:latin typeface="Urbanist" panose="020B0604020202020204" charset="0"/>
                <a:ea typeface="Urbanist" panose="020B0604020202020204" charset="0"/>
                <a:cs typeface="Urbanist" panose="020B0604020202020204" charset="0"/>
              </a:rPr>
              <a:t>Conclusion &amp; Future Scope</a:t>
            </a:r>
            <a:endParaRPr lang="en-IN" sz="3000" dirty="0">
              <a:solidFill>
                <a:schemeClr val="bg1"/>
              </a:solidFill>
              <a:latin typeface="Urbanist" panose="020B0604020202020204" charset="0"/>
              <a:ea typeface="Urbanist" panose="020B0604020202020204" charset="0"/>
              <a:cs typeface="Urbanist" panose="020B0604020202020204" charset="0"/>
            </a:endParaRPr>
          </a:p>
        </p:txBody>
      </p:sp>
      <p:pic>
        <p:nvPicPr>
          <p:cNvPr id="4" name="Google Shape;189;p21" descr="image.png">
            <a:extLst>
              <a:ext uri="{FF2B5EF4-FFF2-40B4-BE49-F238E27FC236}">
                <a16:creationId xmlns:a16="http://schemas.microsoft.com/office/drawing/2014/main" id="{B8A1B438-973D-431C-CDCD-CB733AC35C98}"/>
              </a:ext>
            </a:extLst>
          </p:cNvPr>
          <p:cNvPicPr preferRelativeResize="0"/>
          <p:nvPr/>
        </p:nvPicPr>
        <p:blipFill rotWithShape="1">
          <a:blip r:embed="rId3">
            <a:alphaModFix/>
          </a:blip>
          <a:srcRect/>
          <a:stretch/>
        </p:blipFill>
        <p:spPr>
          <a:xfrm>
            <a:off x="571500" y="1857375"/>
            <a:ext cx="3429000" cy="3981450"/>
          </a:xfrm>
          <a:prstGeom prst="rect">
            <a:avLst/>
          </a:prstGeom>
          <a:noFill/>
          <a:ln>
            <a:noFill/>
          </a:ln>
        </p:spPr>
      </p:pic>
      <p:pic>
        <p:nvPicPr>
          <p:cNvPr id="5" name="Google Shape;190;p21" descr="image.png">
            <a:extLst>
              <a:ext uri="{FF2B5EF4-FFF2-40B4-BE49-F238E27FC236}">
                <a16:creationId xmlns:a16="http://schemas.microsoft.com/office/drawing/2014/main" id="{4A0DCC30-2541-1B54-C065-132FCF2A32E9}"/>
              </a:ext>
            </a:extLst>
          </p:cNvPr>
          <p:cNvPicPr preferRelativeResize="0"/>
          <p:nvPr/>
        </p:nvPicPr>
        <p:blipFill rotWithShape="1">
          <a:blip r:embed="rId4">
            <a:alphaModFix/>
          </a:blip>
          <a:srcRect/>
          <a:stretch/>
        </p:blipFill>
        <p:spPr>
          <a:xfrm>
            <a:off x="4381500" y="1857375"/>
            <a:ext cx="3429000" cy="3981450"/>
          </a:xfrm>
          <a:prstGeom prst="rect">
            <a:avLst/>
          </a:prstGeom>
          <a:noFill/>
          <a:ln>
            <a:noFill/>
          </a:ln>
        </p:spPr>
      </p:pic>
      <p:pic>
        <p:nvPicPr>
          <p:cNvPr id="6" name="Google Shape;191;p21" descr="image.png">
            <a:extLst>
              <a:ext uri="{FF2B5EF4-FFF2-40B4-BE49-F238E27FC236}">
                <a16:creationId xmlns:a16="http://schemas.microsoft.com/office/drawing/2014/main" id="{2F235420-E591-C593-B421-D447DCE27517}"/>
              </a:ext>
            </a:extLst>
          </p:cNvPr>
          <p:cNvPicPr preferRelativeResize="0"/>
          <p:nvPr/>
        </p:nvPicPr>
        <p:blipFill rotWithShape="1">
          <a:blip r:embed="rId4">
            <a:alphaModFix/>
          </a:blip>
          <a:srcRect/>
          <a:stretch/>
        </p:blipFill>
        <p:spPr>
          <a:xfrm>
            <a:off x="8191500" y="1857375"/>
            <a:ext cx="3429000" cy="3981450"/>
          </a:xfrm>
          <a:prstGeom prst="rect">
            <a:avLst/>
          </a:prstGeom>
          <a:noFill/>
          <a:ln>
            <a:noFill/>
          </a:ln>
        </p:spPr>
      </p:pic>
      <p:sp>
        <p:nvSpPr>
          <p:cNvPr id="8" name="Text 2">
            <a:extLst>
              <a:ext uri="{FF2B5EF4-FFF2-40B4-BE49-F238E27FC236}">
                <a16:creationId xmlns:a16="http://schemas.microsoft.com/office/drawing/2014/main" id="{2964B436-AEF3-1929-84C2-36DAFFA88F40}"/>
              </a:ext>
            </a:extLst>
          </p:cNvPr>
          <p:cNvSpPr/>
          <p:nvPr/>
        </p:nvSpPr>
        <p:spPr>
          <a:xfrm>
            <a:off x="723165" y="2088133"/>
            <a:ext cx="1908626" cy="313061"/>
          </a:xfrm>
          <a:prstGeom prst="rect">
            <a:avLst/>
          </a:prstGeom>
          <a:noFill/>
          <a:ln/>
        </p:spPr>
        <p:txBody>
          <a:bodyPr wrap="none" lIns="0" tIns="0" rIns="0" bIns="0" rtlCol="0" anchor="t"/>
          <a:lstStyle/>
          <a:p>
            <a:pPr marL="0" indent="0" algn="l">
              <a:lnSpc>
                <a:spcPct val="104000"/>
              </a:lnSpc>
              <a:buNone/>
            </a:pPr>
            <a:r>
              <a:rPr lang="en-US" sz="2400" b="1" dirty="0">
                <a:solidFill>
                  <a:srgbClr val="D7D4CC"/>
                </a:solidFill>
                <a:latin typeface="Urbanist" panose="020B0604020202020204" charset="0"/>
                <a:ea typeface="Urbanist" panose="020B0604020202020204" charset="0"/>
                <a:cs typeface="Urbanist" panose="020B0604020202020204" charset="0"/>
              </a:rPr>
              <a:t>Conclusion</a:t>
            </a:r>
            <a:endParaRPr lang="en-US" sz="2400" dirty="0">
              <a:latin typeface="Urbanist" panose="020B0604020202020204" charset="0"/>
              <a:ea typeface="Urbanist" panose="020B0604020202020204" charset="0"/>
              <a:cs typeface="Urbanist" panose="020B0604020202020204" charset="0"/>
            </a:endParaRPr>
          </a:p>
        </p:txBody>
      </p:sp>
      <p:sp>
        <p:nvSpPr>
          <p:cNvPr id="9" name="Text 3">
            <a:extLst>
              <a:ext uri="{FF2B5EF4-FFF2-40B4-BE49-F238E27FC236}">
                <a16:creationId xmlns:a16="http://schemas.microsoft.com/office/drawing/2014/main" id="{DF3E33AA-94D6-33E3-E5B3-834B88B1BDEA}"/>
              </a:ext>
            </a:extLst>
          </p:cNvPr>
          <p:cNvSpPr/>
          <p:nvPr/>
        </p:nvSpPr>
        <p:spPr>
          <a:xfrm>
            <a:off x="713332" y="3175181"/>
            <a:ext cx="3096668" cy="2094912"/>
          </a:xfrm>
          <a:prstGeom prst="rect">
            <a:avLst/>
          </a:prstGeom>
          <a:noFill/>
          <a:ln/>
        </p:spPr>
        <p:txBody>
          <a:bodyPr wrap="square" lIns="0" tIns="0" rIns="0" bIns="0" rtlCol="0" anchor="t">
            <a:normAutofit/>
          </a:bodyPr>
          <a:lstStyle/>
          <a:p>
            <a:pPr marL="0" indent="0" algn="l">
              <a:lnSpc>
                <a:spcPct val="133000"/>
              </a:lnSpc>
              <a:buNone/>
            </a:pPr>
            <a:r>
              <a:rPr lang="en-US" sz="1500" dirty="0">
                <a:solidFill>
                  <a:srgbClr val="D7D4CC"/>
                </a:solidFill>
                <a:latin typeface="Urbanist Medium" panose="020B0604020202020204" charset="0"/>
                <a:ea typeface="Urbanist Medium" panose="020B0604020202020204" charset="0"/>
                <a:cs typeface="Urbanist Medium" panose="020B0604020202020204" charset="0"/>
              </a:rPr>
              <a:t>Coordinate-based Conformers reliably process continuous sign language without 3D‑CNN overhead, enabling browser-capable models.</a:t>
            </a:r>
            <a:endParaRPr lang="en-US" sz="1500" dirty="0">
              <a:latin typeface="Urbanist Medium" panose="020B0604020202020204" charset="0"/>
              <a:ea typeface="Urbanist Medium" panose="020B0604020202020204" charset="0"/>
              <a:cs typeface="Urbanist Medium" panose="020B0604020202020204" charset="0"/>
            </a:endParaRPr>
          </a:p>
        </p:txBody>
      </p:sp>
      <p:sp>
        <p:nvSpPr>
          <p:cNvPr id="10" name="Text 5">
            <a:extLst>
              <a:ext uri="{FF2B5EF4-FFF2-40B4-BE49-F238E27FC236}">
                <a16:creationId xmlns:a16="http://schemas.microsoft.com/office/drawing/2014/main" id="{B1959218-31DF-0F6D-C68F-5480CF3934FD}"/>
              </a:ext>
            </a:extLst>
          </p:cNvPr>
          <p:cNvSpPr/>
          <p:nvPr/>
        </p:nvSpPr>
        <p:spPr>
          <a:xfrm>
            <a:off x="4524456" y="2088133"/>
            <a:ext cx="1714500" cy="214313"/>
          </a:xfrm>
          <a:prstGeom prst="rect">
            <a:avLst/>
          </a:prstGeom>
          <a:noFill/>
          <a:ln/>
        </p:spPr>
        <p:txBody>
          <a:bodyPr wrap="none" lIns="0" tIns="0" rIns="0" bIns="0" rtlCol="0" anchor="t"/>
          <a:lstStyle/>
          <a:p>
            <a:pPr marL="0" indent="0" algn="l">
              <a:lnSpc>
                <a:spcPct val="104000"/>
              </a:lnSpc>
              <a:buNone/>
            </a:pPr>
            <a:r>
              <a:rPr lang="en-US" sz="2400" b="1" dirty="0">
                <a:solidFill>
                  <a:srgbClr val="D7D4CC"/>
                </a:solidFill>
                <a:latin typeface="Urbanist" panose="020B0604020202020204" charset="0"/>
                <a:ea typeface="Urbanist" panose="020B0604020202020204" charset="0"/>
                <a:cs typeface="Urbanist" panose="020B0604020202020204" charset="0"/>
              </a:rPr>
              <a:t>Future Scaling</a:t>
            </a:r>
            <a:endParaRPr lang="en-US" sz="2400" dirty="0">
              <a:latin typeface="Urbanist" panose="020B0604020202020204" charset="0"/>
              <a:ea typeface="Urbanist" panose="020B0604020202020204" charset="0"/>
              <a:cs typeface="Urbanist" panose="020B0604020202020204" charset="0"/>
            </a:endParaRPr>
          </a:p>
        </p:txBody>
      </p:sp>
      <p:sp>
        <p:nvSpPr>
          <p:cNvPr id="11" name="Text 6">
            <a:extLst>
              <a:ext uri="{FF2B5EF4-FFF2-40B4-BE49-F238E27FC236}">
                <a16:creationId xmlns:a16="http://schemas.microsoft.com/office/drawing/2014/main" id="{083DA519-A2F3-A94A-EC10-B49164214B78}"/>
              </a:ext>
            </a:extLst>
          </p:cNvPr>
          <p:cNvSpPr/>
          <p:nvPr/>
        </p:nvSpPr>
        <p:spPr>
          <a:xfrm>
            <a:off x="4534288" y="3161935"/>
            <a:ext cx="3085712" cy="1646039"/>
          </a:xfrm>
          <a:prstGeom prst="rect">
            <a:avLst/>
          </a:prstGeom>
          <a:noFill/>
          <a:ln/>
        </p:spPr>
        <p:txBody>
          <a:bodyPr wrap="square" lIns="0" tIns="0" rIns="0" bIns="0" rtlCol="0" anchor="t">
            <a:normAutofit/>
          </a:bodyPr>
          <a:lstStyle/>
          <a:p>
            <a:pPr marL="0" indent="0" algn="l">
              <a:lnSpc>
                <a:spcPct val="133000"/>
              </a:lnSpc>
              <a:buNone/>
            </a:pPr>
            <a:r>
              <a:rPr lang="en-US" sz="1500" dirty="0">
                <a:solidFill>
                  <a:srgbClr val="D7D4CC"/>
                </a:solidFill>
                <a:latin typeface="Urbanist Medium" panose="020B0604020202020204" charset="0"/>
                <a:ea typeface="Urbanist Medium" panose="020B0604020202020204" charset="0"/>
                <a:cs typeface="Urbanist Medium" panose="020B0604020202020204" charset="0"/>
              </a:rPr>
              <a:t>Migrate to high-tier cloud GPUs to process the full 118k-sequence iSign dataset and remove remaining visual collisions.</a:t>
            </a:r>
            <a:endParaRPr lang="en-US" sz="1500" dirty="0">
              <a:latin typeface="Urbanist Medium" panose="020B0604020202020204" charset="0"/>
              <a:ea typeface="Urbanist Medium" panose="020B0604020202020204" charset="0"/>
              <a:cs typeface="Urbanist Medium" panose="020B0604020202020204" charset="0"/>
            </a:endParaRPr>
          </a:p>
        </p:txBody>
      </p:sp>
      <p:sp>
        <p:nvSpPr>
          <p:cNvPr id="12" name="Text 8">
            <a:extLst>
              <a:ext uri="{FF2B5EF4-FFF2-40B4-BE49-F238E27FC236}">
                <a16:creationId xmlns:a16="http://schemas.microsoft.com/office/drawing/2014/main" id="{DF618676-7399-DFAC-71F9-B5E01F6C7C55}"/>
              </a:ext>
            </a:extLst>
          </p:cNvPr>
          <p:cNvSpPr/>
          <p:nvPr/>
        </p:nvSpPr>
        <p:spPr>
          <a:xfrm>
            <a:off x="8335577" y="2088133"/>
            <a:ext cx="1714500" cy="214313"/>
          </a:xfrm>
          <a:prstGeom prst="rect">
            <a:avLst/>
          </a:prstGeom>
          <a:noFill/>
          <a:ln/>
        </p:spPr>
        <p:txBody>
          <a:bodyPr wrap="none" lIns="0" tIns="0" rIns="0" bIns="0" rtlCol="0" anchor="t"/>
          <a:lstStyle/>
          <a:p>
            <a:pPr marL="0" indent="0" algn="l">
              <a:lnSpc>
                <a:spcPct val="104000"/>
              </a:lnSpc>
              <a:buNone/>
            </a:pPr>
            <a:r>
              <a:rPr lang="en-US" sz="2400" b="1" dirty="0">
                <a:solidFill>
                  <a:srgbClr val="D7D4CC"/>
                </a:solidFill>
                <a:latin typeface="Urbanist" panose="020B0604020202020204" charset="0"/>
                <a:ea typeface="Urbanist" panose="020B0604020202020204" charset="0"/>
                <a:cs typeface="Urbanist" panose="020B0604020202020204" charset="0"/>
              </a:rPr>
              <a:t>Ultimate Goal</a:t>
            </a:r>
            <a:endParaRPr lang="en-US" sz="2400" dirty="0">
              <a:latin typeface="Urbanist" panose="020B0604020202020204" charset="0"/>
              <a:ea typeface="Urbanist" panose="020B0604020202020204" charset="0"/>
              <a:cs typeface="Urbanist" panose="020B0604020202020204" charset="0"/>
            </a:endParaRPr>
          </a:p>
        </p:txBody>
      </p:sp>
      <p:sp>
        <p:nvSpPr>
          <p:cNvPr id="13" name="Text 9">
            <a:extLst>
              <a:ext uri="{FF2B5EF4-FFF2-40B4-BE49-F238E27FC236}">
                <a16:creationId xmlns:a16="http://schemas.microsoft.com/office/drawing/2014/main" id="{067663B6-7946-1B95-7D0F-26108A466C2E}"/>
              </a:ext>
            </a:extLst>
          </p:cNvPr>
          <p:cNvSpPr/>
          <p:nvPr/>
        </p:nvSpPr>
        <p:spPr>
          <a:xfrm>
            <a:off x="8335576" y="3161935"/>
            <a:ext cx="3143091" cy="1393620"/>
          </a:xfrm>
          <a:prstGeom prst="rect">
            <a:avLst/>
          </a:prstGeom>
          <a:noFill/>
          <a:ln/>
        </p:spPr>
        <p:txBody>
          <a:bodyPr wrap="square" lIns="0" tIns="0" rIns="0" bIns="0" rtlCol="0" anchor="t">
            <a:noAutofit/>
          </a:bodyPr>
          <a:lstStyle/>
          <a:p>
            <a:pPr marL="0" indent="0" algn="l">
              <a:lnSpc>
                <a:spcPct val="133000"/>
              </a:lnSpc>
              <a:buNone/>
            </a:pPr>
            <a:r>
              <a:rPr lang="en-US" sz="1500" dirty="0">
                <a:solidFill>
                  <a:srgbClr val="D7D4CC"/>
                </a:solidFill>
                <a:latin typeface="Urbanist Medium" panose="020B0604020202020204" charset="0"/>
                <a:ea typeface="Urbanist Medium" panose="020B0604020202020204" charset="0"/>
                <a:cs typeface="Urbanist Medium" panose="020B0604020202020204" charset="0"/>
              </a:rPr>
              <a:t>Integrate Text-to-Speech (TTS) for an end-to-end Sign-to-Speech accessibility pipeline.</a:t>
            </a:r>
            <a:endParaRPr lang="en-US" sz="1500" dirty="0">
              <a:latin typeface="Urbanist Medium" panose="020B0604020202020204" charset="0"/>
              <a:ea typeface="Urbanist Medium" panose="020B0604020202020204" charset="0"/>
              <a:cs typeface="Urbanist Medium" panose="020B0604020202020204" charset="0"/>
            </a:endParaRPr>
          </a:p>
        </p:txBody>
      </p:sp>
    </p:spTree>
    <p:extLst>
      <p:ext uri="{BB962C8B-B14F-4D97-AF65-F5344CB8AC3E}">
        <p14:creationId xmlns:p14="http://schemas.microsoft.com/office/powerpoint/2010/main" val="3290514051"/>
      </p:ext>
    </p:extLst>
  </p:cSld>
  <p:clrMapOvr>
    <a:masterClrMapping/>
  </p:clrMapOvr>
  <p:transition>
    <p:comb/>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60"/>
        <p:cNvGrpSpPr/>
        <p:nvPr/>
      </p:nvGrpSpPr>
      <p:grpSpPr>
        <a:xfrm>
          <a:off x="0" y="0"/>
          <a:ext cx="0" cy="0"/>
          <a:chOff x="0" y="0"/>
          <a:chExt cx="0" cy="0"/>
        </a:xfrm>
      </p:grpSpPr>
      <p:pic>
        <p:nvPicPr>
          <p:cNvPr id="261" name="Google Shape;261;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62" name="Google Shape;262;p27"/>
          <p:cNvSpPr txBox="1"/>
          <p:nvPr/>
        </p:nvSpPr>
        <p:spPr>
          <a:xfrm>
            <a:off x="295200" y="2967300"/>
            <a:ext cx="11601600" cy="100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500" b="1">
                <a:solidFill>
                  <a:srgbClr val="F8FAFC"/>
                </a:solidFill>
                <a:latin typeface="Urbanist"/>
                <a:ea typeface="Urbanist"/>
                <a:cs typeface="Urbanist"/>
                <a:sym typeface="Urbanist"/>
              </a:rPr>
              <a:t>Thank You</a:t>
            </a:r>
            <a:endParaRPr sz="1900"/>
          </a:p>
        </p:txBody>
      </p:sp>
    </p:spTree>
  </p:cSld>
  <p:clrMapOvr>
    <a:masterClrMapping/>
  </p:clrMapOvr>
  <p:transition>
    <p:comb/>
  </p:transition>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352</TotalTime>
  <Words>813</Words>
  <Application>Microsoft Office PowerPoint</Application>
  <PresentationFormat>Widescreen</PresentationFormat>
  <Paragraphs>72</Paragraphs>
  <Slides>17</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Urbanist Medium</vt:lpstr>
      <vt:lpstr>Arial</vt:lpstr>
      <vt:lpstr>Calibri</vt:lpstr>
      <vt:lpstr>Urbanist SemiBold</vt:lpstr>
      <vt:lpstr>Urbanist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&amp; 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Iqbal Shaikh</cp:lastModifiedBy>
  <cp:revision>2</cp:revision>
  <dcterms:modified xsi:type="dcterms:W3CDTF">2026-06-28T13:40:57Z</dcterms:modified>
</cp:coreProperties>
</file>